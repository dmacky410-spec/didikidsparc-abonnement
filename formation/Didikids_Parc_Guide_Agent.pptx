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Guide destine aux agents d'accueil. Le gerant a sa propre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 plan : les entrees, l'inscription, les relances.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 compte personnel des le debut.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 vrai ecran en parallele si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le geste a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compteur 'avant visite offerte' n'apparait que si la fidelite est activee.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derniers cas se resolvent par une vente : voir les slides suivantes.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seuil est reglable par le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coeur du guide : l'agent doit pouvoir le faire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code membre (M-0005) est attribue automatiquement.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logiciel refuse : l'enfant a deja une carte, utiliser 'Carte perdue'.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: le montant bloque protege l'employe autant que le parc.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parcours d'inscription. Enchainer sur la carte perdue.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parent retrouve l'ancienne carte : la reposer sur la fiche, elle se reactive.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cette tache a un moment calme de la journee.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afficher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numero du responsable affiche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par une mise en pratique sur le vrai lecteur.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Didikids </a:t>
            </a:r>
            <a:r>
              <a:rPr sz="5400" b="1">
                <a:solidFill>
                  <a:srgbClr val="F5C518"/>
                </a:solidFill>
                <a:latin typeface="Calibri"/>
              </a:rPr>
              <a:t>Parc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5468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E8F7EA"/>
                </a:solidFill>
                <a:latin typeface="Calibri"/>
              </a:rPr>
              <a:t>GUIDE DE L'AGENT D'ACCUEIL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Tout ce que vous ferez au comptoir, écran par écran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029200"/>
            <a:ext cx="5120640" cy="658368"/>
          </a:xfrm>
          <a:prstGeom prst="roundRect">
            <a:avLst>
              <a:gd name="adj" fmla="val 8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5230368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2D3A2E"/>
                </a:solidFill>
                <a:latin typeface="Calibri"/>
              </a:rPr>
              <a:t>Formation interne · Équipe d'accueil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Votre journée en trois gestes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Ce guide couvre exactement ces trois situations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429000" cy="4023360"/>
          </a:xfrm>
          <a:prstGeom prst="roundRect">
            <a:avLst>
              <a:gd name="adj" fmla="val 8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468880"/>
            <a:ext cx="777240" cy="77724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566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2A7A3B"/>
                </a:solidFill>
                <a:latin typeface="Calibri"/>
              </a:rPr>
              <a:t>Un enfant arrive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16052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Il pose sa carte, vous lisez la couleur de l'écran. C'est tout.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11680"/>
            <a:ext cx="3429000" cy="402336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09160" y="2468880"/>
            <a:ext cx="777240" cy="77724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566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2A7A3B"/>
                </a:solidFill>
                <a:latin typeface="Calibri"/>
              </a:rPr>
              <a:t>Un nouveau client s'inscrit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416052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Vous créez sa fiche, vous lui donnez une carte, vous encaissez. Vous faites tout, seul.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11680"/>
            <a:ext cx="3429000" cy="4023360"/>
          </a:xfrm>
          <a:prstGeom prst="roundRect">
            <a:avLst>
              <a:gd name="adj" fmla="val 8000"/>
            </a:avLst>
          </a:prstGeom>
          <a:solidFill>
            <a:srgbClr val="F3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66760" y="2468880"/>
            <a:ext cx="777240" cy="777240"/>
          </a:xfrm>
          <a:prstGeom prst="ellipse">
            <a:avLst/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566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2A7A3B"/>
                </a:solidFill>
                <a:latin typeface="Calibri"/>
              </a:rPr>
              <a:t>Vous appelez les parents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160520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450" b="0">
                <a:solidFill>
                  <a:srgbClr val="2D3A2E"/>
                </a:solidFill>
                <a:latin typeface="Calibri"/>
              </a:rPr>
              <a:t>Abonnements qui se terminent et anniversaires à venir, avec le message déjà 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Se connecter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Votre compte est personnel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03120"/>
            <a:ext cx="457200" cy="45720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7" y="2121408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Ouvrez le logiciel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7" y="2487168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Double-cliquez sur l'icône « Didikids Parc » du Bureau. Une fenêtre noire s'ouvre : ne la fermez jamais.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383279"/>
            <a:ext cx="457200" cy="45720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3401568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Saisissez vos identifiants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3767328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Votre nom d'utilisateur et votre mot de passe, remis par le responsable.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663440"/>
            <a:ext cx="457200" cy="45720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7" y="4681727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L'écran d'accueil s'ouvre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5047488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Vous êtes prêt à recevoir les enfants.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2103120"/>
            <a:ext cx="4114800" cy="352044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28575">
            <a:solidFill>
              <a:srgbClr val="F5C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2D3A2E"/>
                </a:solidFill>
                <a:latin typeface="Calibri"/>
              </a:rPr>
              <a:t>RÈGLE IMPORTANTE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017520"/>
            <a:ext cx="33832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Ne prêtez votre compte à personne, même à un collègue, même cinq minutes.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Chaque entrée validée et chaque encaissement portent votre nom.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C'est votre protection : personne ne pourra vous reprocher l'erreur d'un autre.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L'écran d'accueil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Voici l'écran devant lequel vous passerez la journée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694944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1600200" cy="4114800"/>
          </a:xfrm>
          <a:prstGeom prst="roundRect">
            <a:avLst>
              <a:gd name="adj" fmla="val 5000"/>
            </a:avLst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2039112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Didikids Parc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86584"/>
            <a:ext cx="1417320" cy="310896"/>
          </a:xfrm>
          <a:prstGeom prst="roundRect">
            <a:avLst>
              <a:gd name="adj" fmla="val 30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9736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D3A2E"/>
                </a:solidFill>
                <a:latin typeface="Calibri"/>
              </a:rPr>
              <a:t>Accueil / Entrées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6207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E8F7EA"/>
                </a:solidFill>
                <a:latin typeface="Calibri"/>
              </a:rPr>
              <a:t>Membres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6440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E8F7EA"/>
                </a:solidFill>
                <a:latin typeface="Calibri"/>
              </a:rPr>
              <a:t>Relances WhatsApp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E8F7EA"/>
                </a:solidFill>
                <a:latin typeface="Calibri"/>
              </a:rPr>
              <a:t>Historique visites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084831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Contrôle des entrées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2514600"/>
            <a:ext cx="484632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27889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Présentez la carte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1546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7C8F7E"/>
                </a:solidFill>
                <a:latin typeface="Calibri"/>
              </a:rPr>
              <a:t>Le passage est validé automatiquement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3566160"/>
            <a:ext cx="3657600" cy="502920"/>
          </a:xfrm>
          <a:prstGeom prst="roundRect">
            <a:avLst>
              <a:gd name="adj" fmla="val 20000"/>
            </a:avLst>
          </a:prstGeom>
          <a:solidFill>
            <a:srgbClr val="E8F7EA"/>
          </a:solidFill>
          <a:ln w="25400">
            <a:solidFill>
              <a:srgbClr val="4CAF5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3703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A7A3B"/>
                </a:solidFill>
                <a:latin typeface="Calibri"/>
              </a:rPr>
              <a:t>ou saisir l'UID ici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14600" y="4572000"/>
            <a:ext cx="4846320" cy="1188720"/>
          </a:xfrm>
          <a:prstGeom prst="roundRect">
            <a:avLst>
              <a:gd name="adj" fmla="val 10000"/>
            </a:avLst>
          </a:prstGeom>
          <a:solidFill>
            <a:srgbClr val="F4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97480" y="475488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A7A3B"/>
                </a:solidFill>
                <a:latin typeface="Calibri"/>
              </a:rPr>
              <a:t>Passages du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512064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D3A2E"/>
                </a:solidFill>
                <a:latin typeface="Calibri"/>
              </a:rPr>
              <a:t>14:32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1206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D3A2E"/>
                </a:solidFill>
                <a:latin typeface="Calibri"/>
              </a:rPr>
              <a:t>Aminata Diallo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5093207"/>
            <a:ext cx="502920" cy="237744"/>
          </a:xfrm>
          <a:prstGeom prst="roundRect">
            <a:avLst>
              <a:gd name="adj" fmla="val 40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138927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A7A3B"/>
                </a:solidFill>
                <a:latin typeface="Calibri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5440679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D3A2E"/>
                </a:solidFill>
                <a:latin typeface="Calibri"/>
              </a:rPr>
              <a:t>14:05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5440679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D3A2E"/>
                </a:solidFill>
                <a:latin typeface="Calibri"/>
              </a:rPr>
              <a:t>Sekou Conde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5413247"/>
            <a:ext cx="502920" cy="237744"/>
          </a:xfrm>
          <a:prstGeom prst="roundRect">
            <a:avLst>
              <a:gd name="adj" fmla="val 40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5458967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A7A3B"/>
                </a:solidFill>
                <a:latin typeface="Calibri"/>
              </a:rPr>
              <a:t>OK</a:t>
            </a:r>
          </a:p>
        </p:txBody>
      </p:sp>
      <p:sp>
        <p:nvSpPr>
          <p:cNvPr id="29" name="Oval 28"/>
          <p:cNvSpPr/>
          <p:nvPr/>
        </p:nvSpPr>
        <p:spPr>
          <a:xfrm>
            <a:off x="7909560" y="2103120"/>
            <a:ext cx="457200" cy="45720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67928" y="212140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Le menu à gauche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7928" y="248716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Vos quatre pages. Si un menu manque, c'est normal : chacun voit ce qui le concerne.</a:t>
            </a:r>
          </a:p>
        </p:txBody>
      </p:sp>
      <p:sp>
        <p:nvSpPr>
          <p:cNvPr id="32" name="Oval 31"/>
          <p:cNvSpPr/>
          <p:nvPr/>
        </p:nvSpPr>
        <p:spPr>
          <a:xfrm>
            <a:off x="7909560" y="3383279"/>
            <a:ext cx="457200" cy="45720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7928" y="340156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La zone de lecture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376732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Le curseur y reste tout seul. Ne cliquez nulle part, posez la carte.</a:t>
            </a:r>
          </a:p>
        </p:txBody>
      </p:sp>
      <p:sp>
        <p:nvSpPr>
          <p:cNvPr id="35" name="Oval 34"/>
          <p:cNvSpPr/>
          <p:nvPr/>
        </p:nvSpPr>
        <p:spPr>
          <a:xfrm>
            <a:off x="7909560" y="4663440"/>
            <a:ext cx="457200" cy="45720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67928" y="4681727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Les passages du jour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504748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Qui est entré, à quelle heure.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Valider une entrée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Le geste que vous répéterez cent fois par jour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423160"/>
            <a:ext cx="640080" cy="640080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56032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L'enfant pose sa carte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375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sur le lecteur du comptoir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56032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Le logiciel répond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3375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en moins d'une seconde, avec un 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103120"/>
            <a:ext cx="3429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423160"/>
            <a:ext cx="640080" cy="640080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56032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Vous lisez la couleur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50" b="0">
                <a:solidFill>
                  <a:srgbClr val="7C8F7E"/>
                </a:solidFill>
                <a:latin typeface="Calibri"/>
              </a:rPr>
              <a:t>vert = il entre · rouge = il n'entre pas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754880"/>
            <a:ext cx="10789920" cy="1508760"/>
          </a:xfrm>
          <a:prstGeom prst="roundRect">
            <a:avLst>
              <a:gd name="adj" fmla="val 8000"/>
            </a:avLst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02920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5C518"/>
                </a:solidFill>
                <a:latin typeface="Calibri"/>
              </a:rPr>
              <a:t>Vous n'avez rien à taper. Rien à cliquer.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612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Si le lecteur ne répond pas, tapez le numéro de la carte à la main dans le champ, puis appuyez sur Entrée.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L'écran vert : l'enfant peut entrer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Quatre informations à lire avant de le laisser passer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5120640" cy="4023360"/>
          </a:xfrm>
          <a:prstGeom prst="roundRect">
            <a:avLst>
              <a:gd name="adj" fmla="val 8000"/>
            </a:avLst>
          </a:prstGeom>
          <a:solidFill>
            <a:srgbClr val="E8F7EA"/>
          </a:solidFill>
          <a:ln w="285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2A7A3B"/>
                </a:solidFill>
                <a:latin typeface="Calibri"/>
              </a:rPr>
              <a:t>ENTRÉE AUTORISÉE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06324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100" b="1">
                <a:solidFill>
                  <a:srgbClr val="2D3A2E"/>
                </a:solidFill>
                <a:latin typeface="Calibri"/>
              </a:rPr>
              <a:t>Aminata 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4787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7C8F7E"/>
                </a:solidFill>
                <a:latin typeface="Calibri"/>
              </a:rPr>
              <a:t>M-0001 · Mensuel 4 entrées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114800"/>
            <a:ext cx="14173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1596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300" b="1">
                <a:solidFill>
                  <a:srgbClr val="2A7A3B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92040"/>
            <a:ext cx="1234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ENTRÉES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RESTANTES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39" y="4114800"/>
            <a:ext cx="14173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79" y="431596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300" b="1">
                <a:solidFill>
                  <a:srgbClr val="2A7A3B"/>
                </a:solidFill>
                <a:latin typeface="Calibri"/>
              </a:rPr>
              <a:t>23/09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4892040"/>
            <a:ext cx="1234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EXPIRE 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4114800"/>
            <a:ext cx="14173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431596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300" b="1">
                <a:solidFill>
                  <a:srgbClr val="2A7A3B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59" y="4892040"/>
            <a:ext cx="1234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AVANT VISITE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OFFERTE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103120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84831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Le nom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79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Vérifiez que c'est bien l'enfant devant vous.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063239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044951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L'abonnement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28999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Le forfait dont il dispose.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023359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00507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Les entrées restantes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3891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S'il n'en reste qu'une, prévenez le parent.</a:t>
            </a:r>
          </a:p>
        </p:txBody>
      </p:sp>
      <p:sp>
        <p:nvSpPr>
          <p:cNvPr id="27" name="Oval 26"/>
          <p:cNvSpPr/>
          <p:nvPr/>
        </p:nvSpPr>
        <p:spPr>
          <a:xfrm>
            <a:off x="6217920" y="4983479"/>
            <a:ext cx="347472" cy="347472"/>
          </a:xfrm>
          <a:prstGeom prst="ellipse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965192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>
                <a:solidFill>
                  <a:srgbClr val="2D3A2E"/>
                </a:solidFill>
                <a:latin typeface="Calibri"/>
              </a:rPr>
              <a:t>La date d'expiration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34924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50" b="0">
                <a:solidFill>
                  <a:srgbClr val="7C8F7E"/>
                </a:solidFill>
                <a:latin typeface="Calibri"/>
              </a:rPr>
              <a:t>Si la date approche, proposez le renouvellement.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5486400"/>
            <a:ext cx="5257800" cy="658368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568756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2D3A2E"/>
                </a:solidFill>
                <a:latin typeface="Calibri"/>
              </a:rPr>
              <a:t>« Déjà passé 2 fois aujourd'hui » : vérifiez que ce n'est pas une erreur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L'écran rouge : l'enfant ne peut pas entrer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Le motif est toujours écrit — lisez-le au parent, il comprendra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7C8F7E"/>
                </a:solidFill>
                <a:latin typeface="Calibri"/>
              </a:rPr>
              <a:t>CE QUI S'AFFICHE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7C8F7E"/>
                </a:solidFill>
                <a:latin typeface="Calibri"/>
              </a:rPr>
              <a:t>CE QUE ÇA VEUT DIRE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7C8F7E"/>
                </a:solidFill>
                <a:latin typeface="Calibri"/>
              </a:rPr>
              <a:t>CE QUE VOUS FAITES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50592"/>
            <a:ext cx="10789920" cy="676656"/>
          </a:xfrm>
          <a:prstGeom prst="roundRect">
            <a:avLst>
              <a:gd name="adj" fmla="val 8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Carte inconnue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6517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Elle n'est enregistrée sur aucun enfant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651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Créez la fiche et donnez-lui la carte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200400"/>
            <a:ext cx="107899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01568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Carte bloquée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40156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La carte a été déclarée perdue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4015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Le parent doit utiliser la nouvelle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50208"/>
            <a:ext cx="10789920" cy="676656"/>
          </a:xfrm>
          <a:prstGeom prst="roundRect">
            <a:avLst>
              <a:gd name="adj" fmla="val 8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51376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Abonnement expiré le 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15137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La date de fin est dépassée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151376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Vendez un nouvel abonnement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700016"/>
            <a:ext cx="107899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01184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Plus d'entrées disponibles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90118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Le forfait est terminé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90118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Vendez un nouvel abonnement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49824"/>
            <a:ext cx="10789920" cy="676656"/>
          </a:xfrm>
          <a:prstGeom prst="roundRect">
            <a:avLst>
              <a:gd name="adj" fmla="val 8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5099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D9463E"/>
                </a:solidFill>
                <a:latin typeface="Calibri"/>
              </a:rPr>
              <a:t>Aucun abonnement actif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65099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D3A2E"/>
                </a:solidFill>
                <a:latin typeface="Calibri"/>
              </a:rPr>
              <a:t>L'enfant n'a rien en cours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650992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Vendez un abonnement depuis sa fiche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5566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Ne laissez jamais entrer un enfant refusé sans prévenir le responsable.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3152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4000" b="1">
                <a:solidFill>
                  <a:srgbClr val="7B2FBE"/>
                </a:solidFill>
                <a:latin typeface="Calibri"/>
              </a:rPr>
              <a:t>La visite offerte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2D3A2E"/>
                </a:solidFill>
                <a:latin typeface="Calibri"/>
              </a:rPr>
              <a:t>Le logiciel récompense les enfants fidèles tout seul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1460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9718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7B2FBE"/>
                </a:solidFill>
                <a:latin typeface="Calibri"/>
              </a:rPr>
              <a:t>VISITE OFFERTE 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94760"/>
            <a:ext cx="4663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D3A2E"/>
                </a:solidFill>
                <a:latin typeface="Calibri"/>
              </a:rPr>
              <a:t>Toutes les 10 visites payantes, la 11e visite est gratuite.</a:t>
            </a:r>
          </a:p>
          <a:p>
            <a:pPr algn="ctr">
              <a:lnSpc>
                <a:spcPct val="130000"/>
              </a:lnSpc>
              <a:spcAft>
                <a:spcPts val="500"/>
              </a:spcAft>
            </a:p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0">
                <a:solidFill>
                  <a:srgbClr val="2D3A2E"/>
                </a:solidFill>
                <a:latin typeface="Calibri"/>
              </a:rPr>
              <a:t>Le logiciel compte tout seul et n'entame pas le forfait de l'enfant.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514600"/>
            <a:ext cx="5029200" cy="3566160"/>
          </a:xfrm>
          <a:prstGeom prst="roundRect">
            <a:avLst>
              <a:gd name="adj" fmla="val 8000"/>
            </a:avLst>
          </a:prstGeom>
          <a:solidFill>
            <a:srgbClr val="7B2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29260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F5C518"/>
                </a:solidFill>
                <a:latin typeface="Calibri"/>
              </a:rPr>
              <a:t>VOTRE RÔLE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3566160"/>
            <a:ext cx="42976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Annoncez-le au parent avec le sourire 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« Aujourd'hui c'est offert, c'est la 11e visite d'Aminata ! »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C'est un moment qui fidélise le client.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4000" b="1">
                <a:solidFill>
                  <a:srgbClr val="F5C518"/>
                </a:solidFill>
                <a:latin typeface="Calibri"/>
              </a:rPr>
              <a:t>Inscrire un nouvel abonné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E8F7EA"/>
                </a:solidFill>
                <a:latin typeface="Calibri"/>
              </a:rPr>
              <a:t>Quatre étapes, deux minutes, sans avoir besoin du gérant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18488" y="2743200"/>
            <a:ext cx="658368" cy="658368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65760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Créer sa fiche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73552" y="3401568"/>
            <a:ext cx="310896" cy="274320"/>
          </a:xfrm>
          <a:prstGeom prst="rightArrow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46888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53128" y="2743200"/>
            <a:ext cx="658368" cy="658368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65760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Lui donner une carte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108192" y="3401568"/>
            <a:ext cx="310896" cy="274320"/>
          </a:xfrm>
          <a:prstGeom prst="rightArrow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46888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87768" y="2743200"/>
            <a:ext cx="658368" cy="658368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65760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Encaisser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942832" y="3401568"/>
            <a:ext cx="310896" cy="274320"/>
          </a:xfrm>
          <a:prstGeom prst="rightArrow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89720" y="246888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122408" y="2743200"/>
            <a:ext cx="658368" cy="658368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D3A2E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65760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Il entre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292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900" b="1">
                <a:solidFill>
                  <a:srgbClr val="2D3A2E"/>
                </a:solidFill>
                <a:latin typeface="Calibri"/>
              </a:rPr>
              <a:t>Les quatre écrans suivants montrent exactement ce que vous verrez.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Étape 1 — Créer la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Menu « Membres » puis le bouton jaune « + Nouveau membre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64008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Nouveau membre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NOM DE L'ENFANT 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825496"/>
            <a:ext cx="283464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907791"/>
            <a:ext cx="2578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D3A2E"/>
                </a:solidFill>
                <a:latin typeface="Calibri"/>
              </a:rPr>
              <a:t>Fatoumata Barry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6060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DATE DE NAISSANCE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2825496"/>
            <a:ext cx="274320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97096" y="2907791"/>
            <a:ext cx="24871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D3A2E"/>
                </a:solidFill>
                <a:latin typeface="Calibri"/>
              </a:rPr>
              <a:t>14/03/2020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429000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NOM DU PARENT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648456"/>
            <a:ext cx="283464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3730752"/>
            <a:ext cx="2578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D3A2E"/>
                </a:solidFill>
                <a:latin typeface="Calibri"/>
              </a:rPr>
              <a:t>Alpha Barry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42900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TÉLÉPHONE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3648456"/>
            <a:ext cx="274320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3730752"/>
            <a:ext cx="24871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D3A2E"/>
                </a:solidFill>
                <a:latin typeface="Calibri"/>
              </a:rPr>
              <a:t>628 44 55 66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5852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4471416"/>
            <a:ext cx="585216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17720" y="525780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A7A3B"/>
                </a:solidFill>
                <a:latin typeface="Calibri"/>
              </a:rPr>
              <a:t>Annuler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52578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Enregistrer</a:t>
            </a:r>
          </a:p>
        </p:txBody>
      </p:sp>
      <p:sp>
        <p:nvSpPr>
          <p:cNvPr id="23" name="Oval 22"/>
          <p:cNvSpPr/>
          <p:nvPr/>
        </p:nvSpPr>
        <p:spPr>
          <a:xfrm>
            <a:off x="7452360" y="2057400"/>
            <a:ext cx="457200" cy="45720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D3A2E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8" y="207568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Le nom de l'enfant suffit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0728" y="2441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C'est le seul champ obligatoire.</a:t>
            </a:r>
          </a:p>
        </p:txBody>
      </p:sp>
      <p:sp>
        <p:nvSpPr>
          <p:cNvPr id="26" name="Oval 25"/>
          <p:cNvSpPr/>
          <p:nvPr/>
        </p:nvSpPr>
        <p:spPr>
          <a:xfrm>
            <a:off x="7452360" y="3081528"/>
            <a:ext cx="457200" cy="45720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8" y="3099816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La date de naissance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728" y="346557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C'est elle qui fera apparaître l'enfant dans les anniversaires à proposer.</a:t>
            </a:r>
          </a:p>
        </p:txBody>
      </p:sp>
      <p:sp>
        <p:nvSpPr>
          <p:cNvPr id="29" name="Oval 28"/>
          <p:cNvSpPr/>
          <p:nvPr/>
        </p:nvSpPr>
        <p:spPr>
          <a:xfrm>
            <a:off x="7452360" y="4105656"/>
            <a:ext cx="457200" cy="45720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D3A2E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412394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Le téléphone du 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8" y="4489704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Sans lui, impossible d'envoyer les relances. Ne le sautez jamais.</a:t>
            </a:r>
          </a:p>
        </p:txBody>
      </p:sp>
      <p:sp>
        <p:nvSpPr>
          <p:cNvPr id="32" name="Oval 31"/>
          <p:cNvSpPr/>
          <p:nvPr/>
        </p:nvSpPr>
        <p:spPr>
          <a:xfrm>
            <a:off x="7452360" y="5129784"/>
            <a:ext cx="457200" cy="45720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D3A2E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5148072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Enregistrer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0728" y="5513832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La fiche s'ouvre aussitôt : vous enchaînez sur la carte.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Étape 2 — Lui donner une carte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Sur la fiche qui vient de s'ouvrir : « + Attribuer une carte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64008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Attribuer une carte RFID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7C8F7E"/>
                </a:solidFill>
                <a:latin typeface="Calibri"/>
              </a:rPr>
              <a:t>Passez la carte sur le lecteur — le numéro se remplit tout seul.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NUMÉRO DE LA CARTE *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246120"/>
            <a:ext cx="5852160" cy="658368"/>
          </a:xfrm>
          <a:prstGeom prst="roundRect">
            <a:avLst>
              <a:gd name="adj" fmla="val 15000"/>
            </a:avLst>
          </a:prstGeom>
          <a:solidFill>
            <a:srgbClr val="E8F7EA"/>
          </a:solidFill>
          <a:ln w="28575">
            <a:solidFill>
              <a:srgbClr val="4CAF5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456432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En attente de la carte…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5852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NUMÉRO IMPRIMÉ SUR LA CARTE (FACULTATIF)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334256"/>
            <a:ext cx="585216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16552"/>
            <a:ext cx="55961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D3A2E"/>
                </a:solidFill>
                <a:latin typeface="Calibri"/>
              </a:rPr>
              <a:t>042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498348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A7A3B"/>
                </a:solidFill>
                <a:latin typeface="Calibri"/>
              </a:rPr>
              <a:t>Annuler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98348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Attribuer</a:t>
            </a:r>
          </a:p>
        </p:txBody>
      </p:sp>
      <p:sp>
        <p:nvSpPr>
          <p:cNvPr id="16" name="Oval 15"/>
          <p:cNvSpPr/>
          <p:nvPr/>
        </p:nvSpPr>
        <p:spPr>
          <a:xfrm>
            <a:off x="7452360" y="2057400"/>
            <a:ext cx="457200" cy="45720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0728" y="207568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Posez la carte neuve sur le lecteur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441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Le champ vert se remplit tout seul. Ne tapez rien au clavier.</a:t>
            </a:r>
          </a:p>
        </p:txBody>
      </p:sp>
      <p:sp>
        <p:nvSpPr>
          <p:cNvPr id="19" name="Oval 18"/>
          <p:cNvSpPr/>
          <p:nvPr/>
        </p:nvSpPr>
        <p:spPr>
          <a:xfrm>
            <a:off x="7452360" y="3291840"/>
            <a:ext cx="457200" cy="45720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0728" y="331012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Le numéro imprimé est facultatif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367588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Utile si vos cartes portent un numéro visible.</a:t>
            </a:r>
          </a:p>
        </p:txBody>
      </p:sp>
      <p:sp>
        <p:nvSpPr>
          <p:cNvPr id="22" name="Oval 21"/>
          <p:cNvSpPr/>
          <p:nvPr/>
        </p:nvSpPr>
        <p:spPr>
          <a:xfrm>
            <a:off x="7452360" y="4526280"/>
            <a:ext cx="457200" cy="457200"/>
          </a:xfrm>
          <a:prstGeom prst="ellipse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8" y="454456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Cliquez sur « Attribuer 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8" y="491032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La carte est active immédiatement.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5532120"/>
            <a:ext cx="4023360" cy="685800"/>
          </a:xfrm>
          <a:prstGeom prst="roundRect">
            <a:avLst>
              <a:gd name="adj" fmla="val 8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5715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A7A3B"/>
                </a:solidFill>
                <a:latin typeface="Calibri"/>
              </a:rPr>
              <a:t>Un enfant = une seule carte active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Étape 3 — Encaisser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Sur la fiche : bouton jaune « Vendre un abonnement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640080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Vendre un abonnement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56032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A7A3B"/>
                </a:solidFill>
                <a:latin typeface="Calibri"/>
              </a:rPr>
              <a:t>Mensuel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3A2E"/>
                </a:solidFill>
                <a:latin typeface="Calibri"/>
              </a:rPr>
              <a:t>180 000 GNF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56032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E8F7EA"/>
          </a:solidFill>
          <a:ln w="285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43200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A7A3B"/>
                </a:solidFill>
                <a:latin typeface="Calibri"/>
              </a:rPr>
              <a:t>Mensuel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063240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3A2E"/>
                </a:solidFill>
                <a:latin typeface="Calibri"/>
              </a:rPr>
              <a:t>320 000 GNF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56032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743200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2A7A3B"/>
                </a:solidFill>
                <a:latin typeface="Calibri"/>
              </a:rPr>
              <a:t>VIP Illimité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063240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3A2E"/>
                </a:solidFill>
                <a:latin typeface="Calibri"/>
              </a:rPr>
              <a:t>500 000 GNF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703320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MODE DE PAIEMENT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3922776"/>
            <a:ext cx="283464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005072"/>
            <a:ext cx="2578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D3A2E"/>
                </a:solidFill>
                <a:latin typeface="Calibri"/>
              </a:rPr>
              <a:t>Orange Money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37033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MONTANT PAYÉ (GNF)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69080" y="3922776"/>
            <a:ext cx="274320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7096" y="4005072"/>
            <a:ext cx="24871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C8F7E"/>
                </a:solidFill>
                <a:latin typeface="Calibri"/>
              </a:rPr>
              <a:t>320 000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4526280"/>
            <a:ext cx="2743200" cy="384048"/>
          </a:xfrm>
          <a:prstGeom prst="roundRect">
            <a:avLst>
              <a:gd name="adj" fmla="val 20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0" y="4626864"/>
            <a:ext cx="2514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D3A2E"/>
                </a:solidFill>
                <a:latin typeface="Calibri"/>
              </a:rPr>
              <a:t>Prix du catalogue — non modifiable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5166360"/>
            <a:ext cx="3017520" cy="411480"/>
          </a:xfrm>
          <a:prstGeom prst="roundRect">
            <a:avLst>
              <a:gd name="adj" fmla="val 50000"/>
            </a:avLst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Encaisser et imprimer le reçu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2057400"/>
            <a:ext cx="457200" cy="45720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D3A2E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0728" y="207568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Choisissez la formule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8" y="2441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Elle se met en vert quand elle est sélectionnée.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081528"/>
            <a:ext cx="457200" cy="45720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3099816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Choisissez le paiement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10728" y="346557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Espèces, Orange Money, MTN MoMo ou carte.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105656"/>
            <a:ext cx="457200" cy="45720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D3A2E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0728" y="412394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Le montant est bloqué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4489704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Vous ne pouvez pas le changer : c'est le prix du parc. Cela vous protège.</a:t>
            </a:r>
          </a:p>
        </p:txBody>
      </p:sp>
      <p:sp>
        <p:nvSpPr>
          <p:cNvPr id="34" name="Oval 33"/>
          <p:cNvSpPr/>
          <p:nvPr/>
        </p:nvSpPr>
        <p:spPr>
          <a:xfrm>
            <a:off x="7452360" y="5129784"/>
            <a:ext cx="457200" cy="45720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D3A2E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0728" y="5148072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Encaissez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0728" y="5513832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Le reçu s'imprime tout seul, avec votre nom dessus.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Étape 4 — L'enfant 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Il pose sa carte tout de suite : c'est déjà actif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5669280" cy="4023360"/>
          </a:xfrm>
          <a:prstGeom prst="roundRect">
            <a:avLst>
              <a:gd name="adj" fmla="val 8000"/>
            </a:avLst>
          </a:prstGeom>
          <a:solidFill>
            <a:srgbClr val="E8F7EA"/>
          </a:solidFill>
          <a:ln w="2857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900" b="1">
                <a:solidFill>
                  <a:srgbClr val="2A7A3B"/>
                </a:solidFill>
                <a:latin typeface="Calibri"/>
              </a:rPr>
              <a:t>ENTRÉE AUTORISÉE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4290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400" b="1">
                <a:solidFill>
                  <a:srgbClr val="2D3A2E"/>
                </a:solidFill>
                <a:latin typeface="Calibri"/>
              </a:rPr>
              <a:t>Fatoumata Barry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00507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7C8F7E"/>
                </a:solidFill>
                <a:latin typeface="Calibri"/>
              </a:rPr>
              <a:t>M-0005 · Mensuel 8 entrées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4526280"/>
            <a:ext cx="25603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4709160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2A7A3B"/>
                </a:solidFill>
                <a:latin typeface="Calibr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53035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7C8F7E"/>
                </a:solidFill>
                <a:latin typeface="Calibri"/>
              </a:rPr>
              <a:t>ENTRÉES RESTANTES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19456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>
                <a:solidFill>
                  <a:srgbClr val="2A7A3B"/>
                </a:solidFill>
                <a:latin typeface="Calibri"/>
              </a:rPr>
              <a:t>C'est terminé.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7548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650" b="0">
                <a:solidFill>
                  <a:srgbClr val="2D3A2E"/>
                </a:solidFill>
                <a:latin typeface="Calibri"/>
              </a:rPr>
              <a:t>Le parent est inscrit, il a payé, son enfant joue.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650" b="0">
                <a:solidFill>
                  <a:srgbClr val="2D3A2E"/>
                </a:solidFill>
                <a:latin typeface="Calibri"/>
              </a:rPr>
              <a:t>Vous avez fait les quatre étapes seul, en deux minutes, sans appeler personne.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650" b="0">
                <a:solidFill>
                  <a:srgbClr val="2D3A2E"/>
                </a:solidFill>
                <a:latin typeface="Calibri"/>
              </a:rPr>
              <a:t>L'abonnement est décompté automatiquement à chaque passage : il vous reste juste à poser la carte, les prochaines fois.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Une carte perdue ? On la remplace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Ouvrez la fiche de l'enfant : bouton rouge « Carte perdue — la remplacer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0789920" cy="914400"/>
          </a:xfrm>
          <a:prstGeom prst="roundRect">
            <a:avLst>
              <a:gd name="adj" fmla="val 8000"/>
            </a:avLst>
          </a:prstGeom>
          <a:solidFill>
            <a:srgbClr val="FDECEA"/>
          </a:solidFill>
          <a:ln w="28575">
            <a:solidFill>
              <a:srgbClr val="D94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D9463E"/>
                </a:solidFill>
                <a:latin typeface="Calibri"/>
              </a:rPr>
              <a:t>Ne créez JAMAIS une deuxième fiche pour le même enfant.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2D3A2E"/>
                </a:solidFill>
                <a:latin typeface="Calibri"/>
              </a:rPr>
              <a:t>Vous perdriez son abonnement, ses entrées restantes et son historique.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63240"/>
            <a:ext cx="640080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918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D9463E"/>
                </a:solidFill>
                <a:latin typeface="Calibri"/>
              </a:rPr>
              <a:t>Carte perdue — la remplacer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7C8F7E"/>
                </a:solidFill>
                <a:latin typeface="Calibri"/>
              </a:rPr>
              <a:t>L'ancienne carte sera désactivée automatiquement.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4069080"/>
            <a:ext cx="5852160" cy="566928"/>
          </a:xfrm>
          <a:prstGeom prst="roundRect">
            <a:avLst>
              <a:gd name="adj" fmla="val 15000"/>
            </a:avLst>
          </a:prstGeom>
          <a:solidFill>
            <a:srgbClr val="E8F7EA"/>
          </a:solidFill>
          <a:ln w="28575">
            <a:solidFill>
              <a:srgbClr val="4CAF5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2452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A7A3B"/>
                </a:solidFill>
                <a:latin typeface="Calibri"/>
              </a:rPr>
              <a:t>Posez la NOUVELLE carte…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0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C8F7E"/>
                </a:solidFill>
                <a:latin typeface="Calibri"/>
              </a:rPr>
              <a:t>MOTIF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5020056"/>
            <a:ext cx="283464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D3E4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5102352"/>
            <a:ext cx="25786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D3A2E"/>
                </a:solidFill>
                <a:latin typeface="Calibri"/>
              </a:rPr>
              <a:t>Carte perdue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516636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D94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Remplacer la carte</a:t>
            </a:r>
          </a:p>
        </p:txBody>
      </p:sp>
      <p:sp>
        <p:nvSpPr>
          <p:cNvPr id="17" name="Oval 16"/>
          <p:cNvSpPr/>
          <p:nvPr/>
        </p:nvSpPr>
        <p:spPr>
          <a:xfrm>
            <a:off x="7452360" y="3200400"/>
            <a:ext cx="457200" cy="457200"/>
          </a:xfrm>
          <a:prstGeom prst="ellipse">
            <a:avLst/>
          </a:prstGeom>
          <a:solidFill>
            <a:srgbClr val="D94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321868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Ouvrez la fiche de l'enfant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3584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Menu Membres, puis « Ouvrir ».</a:t>
            </a:r>
          </a:p>
        </p:txBody>
      </p:sp>
      <p:sp>
        <p:nvSpPr>
          <p:cNvPr id="20" name="Oval 19"/>
          <p:cNvSpPr/>
          <p:nvPr/>
        </p:nvSpPr>
        <p:spPr>
          <a:xfrm>
            <a:off x="7452360" y="4160520"/>
            <a:ext cx="457200" cy="457200"/>
          </a:xfrm>
          <a:prstGeom prst="ellipse">
            <a:avLst/>
          </a:prstGeom>
          <a:solidFill>
            <a:srgbClr val="D94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4178807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Posez la nouvelle carte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454456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Le champ vert se remplit tout seul.</a:t>
            </a:r>
          </a:p>
        </p:txBody>
      </p:sp>
      <p:sp>
        <p:nvSpPr>
          <p:cNvPr id="23" name="Oval 22"/>
          <p:cNvSpPr/>
          <p:nvPr/>
        </p:nvSpPr>
        <p:spPr>
          <a:xfrm>
            <a:off x="7452360" y="5120640"/>
            <a:ext cx="457200" cy="457200"/>
          </a:xfrm>
          <a:prstGeom prst="ellipse">
            <a:avLst/>
          </a:prstGeom>
          <a:solidFill>
            <a:srgbClr val="D946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8" y="5138927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>
                <a:solidFill>
                  <a:srgbClr val="2D3A2E"/>
                </a:solidFill>
                <a:latin typeface="Calibri"/>
              </a:rPr>
              <a:t>Validez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0728" y="550468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L'ancienne carte est refusée dès cet instant. L'abonnement et les entrées restantes sont conservés.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Appeler les parents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Menu « Relances WhatsApp » — le chiffre indique combien de parents appeler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10789920" cy="1600200"/>
          </a:xfrm>
          <a:prstGeom prst="roundRect">
            <a:avLst>
              <a:gd name="adj" fmla="val 8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2A7A3B"/>
                </a:solidFill>
                <a:latin typeface="Calibri"/>
              </a:rPr>
              <a:t>Abonnements à renouveler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D3A2E"/>
                </a:solidFill>
                <a:latin typeface="Calibri"/>
              </a:rPr>
              <a:t>Mariama Toure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697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Expire le 02/09/2026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265176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WhatsApp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7C8F7E"/>
                </a:solidFill>
                <a:latin typeface="Calibri"/>
              </a:rPr>
              <a:t>Un clic ouvre WhatsApp avec le message déjà écrit et le bon numéro.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49039"/>
            <a:ext cx="10789920" cy="1600200"/>
          </a:xfrm>
          <a:prstGeom prst="roundRect">
            <a:avLst>
              <a:gd name="adj" fmla="val 8000"/>
            </a:avLst>
          </a:prstGeom>
          <a:solidFill>
            <a:srgbClr val="F3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39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7B2FBE"/>
                </a:solidFill>
                <a:latin typeface="Calibri"/>
              </a:rPr>
              <a:t>Anniversaires — 30 prochains jours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D3A2E"/>
                </a:solidFill>
                <a:latin typeface="Calibri"/>
              </a:rPr>
              <a:t>Aminata Diallo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480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7C8F7E"/>
                </a:solidFill>
                <a:latin typeface="Calibri"/>
              </a:rPr>
              <a:t>7 ans dans 6 jours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43484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WhatsApp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92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7C8F7E"/>
                </a:solidFill>
                <a:latin typeface="Calibri"/>
              </a:rPr>
              <a:t>Proposez une fête d'anniversaire au parc — c'est une vente facile.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5321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2D3A2E"/>
                </a:solidFill>
                <a:latin typeface="Calibri"/>
              </a:rPr>
              <a:t>Relisez toujours le message avant d'envoyer, et ajoutez un mot personnel.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4000" b="1">
                <a:solidFill>
                  <a:srgbClr val="F5C518"/>
                </a:solidFill>
                <a:latin typeface="Calibri"/>
              </a:rPr>
              <a:t>Les 5 règles d'or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2D3A2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810512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Chaque action porte votre 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240280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entrées, encaissements : tout est enregistré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770632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2D3A2E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798064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Ne prêtez jamais votre compte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227832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même à un collègue, même cinq minutes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758184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2D3A2E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785616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Les prix ne se négocient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215384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le montant vient du catalogue, il est bloqué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745736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2D3A2E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773168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Une carte = un enfant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202936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carte perdue : on remplace, on ne recrée pas la fiche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5733288"/>
            <a:ext cx="640080" cy="640080"/>
          </a:xfrm>
          <a:prstGeom prst="ellipse">
            <a:avLst/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2D3A2E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760720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Ne fermez pas la fenêtre noire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6190488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0">
                <a:solidFill>
                  <a:srgbClr val="E8F7EA"/>
                </a:solidFill>
                <a:latin typeface="Calibri"/>
              </a:rPr>
              <a:t>c'est le moteur du logiciel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2A7A3B"/>
                </a:solidFill>
                <a:latin typeface="Calibri"/>
              </a:rPr>
              <a:t>En cas de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7C8F7E"/>
                </a:solidFill>
                <a:latin typeface="Calibri"/>
              </a:rPr>
              <a:t>Trois pannes courantes, trois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10789920" cy="1143000"/>
          </a:xfrm>
          <a:prstGeom prst="roundRect">
            <a:avLst>
              <a:gd name="adj" fmla="val 8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7685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L'écran ne s'ouvre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25856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Vérifiez que la fenêtre « Didikids Parc - Serveur » est ouverte dans la barre des tâches. Sinon, double-cliquez sur l'icône du Bureau.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83280"/>
            <a:ext cx="10789920" cy="1143000"/>
          </a:xfrm>
          <a:prstGeom prst="roundRect">
            <a:avLst>
              <a:gd name="adj" fmla="val 8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0273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Le lecteur ne réagit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Débranchez puis rebranchez le lecteur USB et relancez « Lecteur RFID ». En attendant, tapez le numéro de la carte à la main.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709160"/>
            <a:ext cx="10789920" cy="1143000"/>
          </a:xfrm>
          <a:prstGeom prst="roundRect">
            <a:avLst>
              <a:gd name="adj" fmla="val 8000"/>
            </a:avLst>
          </a:prstGeom>
          <a:solidFill>
            <a:srgbClr val="E8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92861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2A7A3B"/>
                </a:solidFill>
                <a:latin typeface="Calibri"/>
              </a:rPr>
              <a:t>Un menu a disparu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910328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400" b="0">
                <a:solidFill>
                  <a:srgbClr val="2D3A2E"/>
                </a:solidFill>
                <a:latin typeface="Calibri"/>
              </a:rPr>
              <a:t>Ce n'est pas une panne : chacun voit uniquement les pages qui le concernent. Le reste est réservé au responsable.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806440"/>
            <a:ext cx="10789920" cy="777240"/>
          </a:xfrm>
          <a:prstGeom prst="roundRect">
            <a:avLst>
              <a:gd name="adj" fmla="val 8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6062472"/>
            <a:ext cx="10149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2D3A2E"/>
                </a:solidFill>
                <a:latin typeface="Calibri"/>
              </a:rPr>
              <a:t>En cas de doute, appelez le responsable. Aucune question n'est bête.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194560"/>
            <a:ext cx="10789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3611880"/>
            <a:ext cx="5943600" cy="1417320"/>
          </a:xfrm>
          <a:prstGeom prst="roundRect">
            <a:avLst>
              <a:gd name="adj" fmla="val 8000"/>
            </a:avLst>
          </a:prstGeom>
          <a:solidFill>
            <a:srgbClr val="F5C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3931920"/>
            <a:ext cx="5394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500"/>
              </a:spcAft>
            </a:pPr>
            <a:r>
              <a:rPr sz="2400" b="1">
                <a:solidFill>
                  <a:srgbClr val="2D3A2E"/>
                </a:solidFill>
                <a:latin typeface="Calibri"/>
              </a:rPr>
              <a:t>Posez la carte.</a:t>
            </a:r>
          </a:p>
          <a:p>
            <a:pPr algn="ctr">
              <a:lnSpc>
                <a:spcPct val="120000"/>
              </a:lnSpc>
              <a:spcAft>
                <a:spcPts val="500"/>
              </a:spcAft>
            </a:pPr>
            <a:r>
              <a:rPr sz="2400" b="1">
                <a:solidFill>
                  <a:srgbClr val="2D3A2E"/>
                </a:solidFill>
                <a:latin typeface="Calibri"/>
              </a:rPr>
              <a:t>Lisez la couleur.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0">
                <a:solidFill>
                  <a:srgbClr val="E8F7EA"/>
                </a:solidFill>
                <a:latin typeface="Calibri"/>
              </a:rPr>
              <a:t>Didikids Parc — parce que chaque enfant mérite de s'épanouir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