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Accueillir l'equipe. Rappeler que le logiciel remplace le cahier papier et qu'il protege tout le monde : chaque action est tracee.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le logiciel ne remplace pas l'accueil humain, il enleve le calcul mental et les erreurs.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discipline : un compte prete, et c'est votre nom qui apparait sur une erreur ou une caisse qui ne tombe pas 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l'ecran en vrai pendant la 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le geste a chaque employe pendant la 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compteur 'avant visite offerte' n'apparait que si la fidelite est activee.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motif exact est toujours ecrit a l'ecran : il suffit de le lire au parent.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seuil (10 visites) est reglable par le super administrateur.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code membre (M-0001) est attribue automatiquement.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numero imprime sur la carte est facultatif mais pratique.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recu porte le nom de l'employe qui encaisse.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L'ancienne carte est bloquee : si quelqu'un la retrouve et la presente, elle est refusee.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un menu n'apparait pas chez vous, ce n'est pas une panne : c'est votre niveau d'acces.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afficher au comptoir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numero du responsable affiche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Remercier l'equipe et faire pratiquer sur le vrai lecteur.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Didikids </a:t>
            </a:r>
            <a:r>
              <a:rPr sz="6000" b="1">
                <a:solidFill>
                  <a:srgbClr val="F5C518"/>
                </a:solidFill>
                <a:latin typeface="Calibri"/>
              </a:rPr>
              <a:t>Parc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E8F7EA"/>
                </a:solidFill>
                <a:latin typeface="Calibri"/>
              </a:rPr>
              <a:t>LOGICIEL DE GESTION DES ABONNEMENTS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Guide d'utilisation — équipe d'accueil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257800"/>
            <a:ext cx="4389120" cy="640080"/>
          </a:xfrm>
          <a:prstGeom prst="roundRect">
            <a:avLst>
              <a:gd name="adj" fmla="val 6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449824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D3A2E"/>
                </a:solidFill>
                <a:latin typeface="Calibri"/>
              </a:rPr>
              <a:t>Formation interne · Version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A3B"/>
                </a:solidFill>
                <a:latin typeface="Calibri"/>
              </a:rPr>
              <a:t>À quoi sert ce logiciel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Trois choses simples, que vous ferez tous les jours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514600"/>
            <a:ext cx="777240" cy="777240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61188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7A3B"/>
                </a:solidFill>
                <a:latin typeface="Calibri"/>
              </a:rPr>
              <a:t>Les cartes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06240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Chaque enfant a sa carte. Vous la posez sur le lecteur : le logiciel reconnaît l'enfant en moins d'une seconde.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09160" y="2514600"/>
            <a:ext cx="777240" cy="77724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61188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7A3B"/>
                </a:solidFill>
                <a:latin typeface="Calibri"/>
              </a:rPr>
              <a:t>Les abonnements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4206240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4 entrées, 8 entrées, VIP illimité. Le logiciel décompte les entrées tout seul et refuse quand le forfait est fini.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5740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F3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66760" y="2514600"/>
            <a:ext cx="777240" cy="777240"/>
          </a:xfrm>
          <a:prstGeom prst="ellipse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61188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A7A3B"/>
                </a:solidFill>
                <a:latin typeface="Calibri"/>
              </a:rPr>
              <a:t>L'historique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206240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Chaque passage est enregistré : l'enfant, la date, l'heure et le nom de l'employé qui a validé.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A3B"/>
                </a:solidFill>
                <a:latin typeface="Calibri"/>
              </a:rPr>
              <a:t>Se connecter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Chaque employé a son propre compte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103120"/>
            <a:ext cx="621792" cy="621792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1488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D3A2E"/>
                </a:solidFill>
                <a:latin typeface="Calibri"/>
              </a:rPr>
              <a:t>Ouvrez le logiciel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633472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7C8F7E"/>
                </a:solidFill>
                <a:latin typeface="Calibri"/>
              </a:rPr>
              <a:t>Double-cliquez sur l'icône « Didikids Parc » du Bureau. Une fenêtre noire s'ouvre : ne la fermez jamais.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474720"/>
            <a:ext cx="621792" cy="621792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52043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D3A2E"/>
                </a:solidFill>
                <a:latin typeface="Calibri"/>
              </a:rPr>
              <a:t>Saisissez vos identifiants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4005072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7C8F7E"/>
                </a:solidFill>
                <a:latin typeface="Calibri"/>
              </a:rPr>
              <a:t>Votre nom d'utilisateur et votre mot de passe, remis par le responsable.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46320"/>
            <a:ext cx="621792" cy="621792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892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D3A2E"/>
                </a:solidFill>
                <a:latin typeface="Calibri"/>
              </a:rPr>
              <a:t>L'écran d'accueil s'ouvre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5376672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7C8F7E"/>
                </a:solidFill>
                <a:latin typeface="Calibri"/>
              </a:rPr>
              <a:t>Vous êtes prêt à recevoir les enfants.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103120"/>
            <a:ext cx="4114800" cy="356616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28575">
            <a:solidFill>
              <a:srgbClr val="F5C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D3A2E"/>
                </a:solidFill>
                <a:latin typeface="Calibri"/>
              </a:rPr>
              <a:t>RÈGLE IMPORTANTE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017520"/>
            <a:ext cx="33832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Votre compte est personnel.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Ne le prêtez à personne, même à un collègue.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Chaque entrée validée et chaque encaissement portent votre nom dans l'historique. C'est votre protection.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A3B"/>
                </a:solidFill>
                <a:latin typeface="Calibri"/>
              </a:rPr>
              <a:t>L'écran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C'est l'écran sur lequel vous passerez la journée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6400800" cy="4023360"/>
          </a:xfrm>
          <a:prstGeom prst="roundRect">
            <a:avLst>
              <a:gd name="adj" fmla="val 6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A3B"/>
                </a:solidFill>
                <a:latin typeface="Calibri"/>
              </a:rPr>
              <a:t>À GAUCHE — Zone de 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56692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1">
                <a:solidFill>
                  <a:srgbClr val="2D3A2E"/>
                </a:solidFill>
                <a:latin typeface="Calibri"/>
              </a:rPr>
              <a:t>« Présentez la carte »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Le curseur reste automatiquement dans le champ de saisie. Vous n'avez rien à cliquer : posez simplement la carte sur le lecteur.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0">
                <a:solidFill>
                  <a:srgbClr val="7C8F7E"/>
                </a:solidFill>
                <a:latin typeface="Calibri"/>
              </a:rPr>
              <a:t>Sous cette zone s'affiche le résultat, en vert ou en rouge.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057400"/>
            <a:ext cx="402336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9E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423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A3B"/>
                </a:solidFill>
                <a:latin typeface="Calibri"/>
              </a:rPr>
              <a:t>À DROITE — Passages du jour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92608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La liste de tous les enfants entrés aujourd'hui, avec l'heure.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Un coup d'œil suffit pour savoir combien d'enfants sont dans le parc.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A3B"/>
                </a:solidFill>
                <a:latin typeface="Calibri"/>
              </a:rPr>
              <a:t>Valider une entrée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Le geste que vous répéterez cent fois par jour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9E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423160"/>
            <a:ext cx="640080" cy="64008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542032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D3A2E"/>
                </a:solidFill>
                <a:latin typeface="Calibri"/>
              </a:rPr>
              <a:t>L'enfant pose sa carte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7C8F7E"/>
                </a:solidFill>
                <a:latin typeface="Calibri"/>
              </a:rPr>
              <a:t>sur le lecteur posé au comptoir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9E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2423160"/>
            <a:ext cx="640080" cy="64008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542032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D3A2E"/>
                </a:solidFill>
                <a:latin typeface="Calibri"/>
              </a:rPr>
              <a:t>Le logiciel répond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3756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7C8F7E"/>
                </a:solidFill>
                <a:latin typeface="Calibri"/>
              </a:rPr>
              <a:t>en moins d'une seconde, avec un 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103120"/>
            <a:ext cx="3429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9E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2423160"/>
            <a:ext cx="640080" cy="64008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542032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D3A2E"/>
                </a:solidFill>
                <a:latin typeface="Calibri"/>
              </a:rPr>
              <a:t>Vous lisez la couleur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3756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0">
                <a:solidFill>
                  <a:srgbClr val="7C8F7E"/>
                </a:solidFill>
                <a:latin typeface="Calibri"/>
              </a:rPr>
              <a:t>vert = il entre · rouge = il n'entre pas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54880"/>
            <a:ext cx="10789920" cy="1508760"/>
          </a:xfrm>
          <a:prstGeom prst="roundRect">
            <a:avLst>
              <a:gd name="adj" fmla="val 6000"/>
            </a:avLst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F5C518"/>
                </a:solidFill>
                <a:latin typeface="Calibri"/>
              </a:rPr>
              <a:t>Vous n'avez rien à taper. Rien à cliquer.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9612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Si le lecteur ne réagit pas, vous pouvez taper le numéro de la carte à la main dans le champ, puis appuyer sur Entrée.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A3B"/>
                </a:solidFill>
                <a:latin typeface="Calibri"/>
              </a:rPr>
              <a:t>L'écran vert : entrée autorisée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Quatre informations à lire avant de laisser passer l'enfant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120640" cy="4023360"/>
          </a:xfrm>
          <a:prstGeom prst="roundRect">
            <a:avLst>
              <a:gd name="adj" fmla="val 6000"/>
            </a:avLst>
          </a:prstGeom>
          <a:solidFill>
            <a:srgbClr val="E8F7EA"/>
          </a:solidFill>
          <a:ln w="28575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2A7A3B"/>
                </a:solidFill>
                <a:latin typeface="Calibri"/>
              </a:rPr>
              <a:t>ENTRÉE AUTORISÉE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632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2D3A2E"/>
                </a:solidFill>
                <a:latin typeface="Calibri"/>
              </a:rPr>
              <a:t>Aminata Diallo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4787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7C8F7E"/>
                </a:solidFill>
                <a:latin typeface="Calibri"/>
              </a:rPr>
              <a:t>M-0001 · Mensuel 4 entrées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114800"/>
            <a:ext cx="14173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15968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00" b="1">
                <a:solidFill>
                  <a:srgbClr val="2A7A3B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92040"/>
            <a:ext cx="1234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7C8F7E"/>
                </a:solidFill>
                <a:latin typeface="Calibri"/>
              </a:rPr>
              <a:t>ENTRÉES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7C8F7E"/>
                </a:solidFill>
                <a:latin typeface="Calibri"/>
              </a:rPr>
              <a:t>RESTANTES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39" y="4114800"/>
            <a:ext cx="14173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4315968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00" b="1">
                <a:solidFill>
                  <a:srgbClr val="2A7A3B"/>
                </a:solidFill>
                <a:latin typeface="Calibri"/>
              </a:rPr>
              <a:t>23/08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4892040"/>
            <a:ext cx="1234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7C8F7E"/>
                </a:solidFill>
                <a:latin typeface="Calibri"/>
              </a:rPr>
              <a:t>EXPIRE 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4114800"/>
            <a:ext cx="141732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4315968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300" b="1">
                <a:solidFill>
                  <a:srgbClr val="2A7A3B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4892040"/>
            <a:ext cx="12344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7C8F7E"/>
                </a:solidFill>
                <a:latin typeface="Calibri"/>
              </a:rPr>
              <a:t>AVANT VISITE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>
                <a:solidFill>
                  <a:srgbClr val="7C8F7E"/>
                </a:solidFill>
                <a:latin typeface="Calibri"/>
              </a:rPr>
              <a:t>OFFERTE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2103120"/>
            <a:ext cx="347472" cy="347472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084831"/>
            <a:ext cx="4709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2D3A2E"/>
                </a:solidFill>
                <a:latin typeface="Calibri"/>
              </a:rPr>
              <a:t>Le nom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468879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7C8F7E"/>
                </a:solidFill>
                <a:latin typeface="Calibri"/>
              </a:rPr>
              <a:t>Vérifiez que c'est bien l'enfant devant vous.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3063239"/>
            <a:ext cx="347472" cy="347472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044951"/>
            <a:ext cx="4709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2D3A2E"/>
                </a:solidFill>
                <a:latin typeface="Calibri"/>
              </a:rPr>
              <a:t>L'abonnement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428999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7C8F7E"/>
                </a:solidFill>
                <a:latin typeface="Calibri"/>
              </a:rPr>
              <a:t>Le type de forfait dont il dispose.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4023359"/>
            <a:ext cx="347472" cy="347472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005072"/>
            <a:ext cx="4709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2D3A2E"/>
                </a:solidFill>
                <a:latin typeface="Calibri"/>
              </a:rPr>
              <a:t>Les entrées restantes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38912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7C8F7E"/>
                </a:solidFill>
                <a:latin typeface="Calibri"/>
              </a:rPr>
              <a:t>S'il en reste 1, prévenez le parent gentiment.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4983479"/>
            <a:ext cx="347472" cy="347472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965192"/>
            <a:ext cx="4709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2D3A2E"/>
                </a:solidFill>
                <a:latin typeface="Calibri"/>
              </a:rPr>
              <a:t>La date d'expiration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349240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7C8F7E"/>
                </a:solidFill>
                <a:latin typeface="Calibri"/>
              </a:rPr>
              <a:t>Proposez le renouvellement si la date approche.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486400"/>
            <a:ext cx="5257800" cy="658368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68756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2D3A2E"/>
                </a:solidFill>
                <a:latin typeface="Calibri"/>
              </a:rPr>
              <a:t>« Déjà passé 2 fois aujourd'hui » = vérifiez qu'il ne s'agit pas d'une erreur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A3B"/>
                </a:solidFill>
                <a:latin typeface="Calibri"/>
              </a:rPr>
              <a:t>L'écran rouge : entrée refusée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Le logiciel affiche toujours le motif — voici quoi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C8F7E"/>
                </a:solidFill>
                <a:latin typeface="Calibri"/>
              </a:rPr>
              <a:t>CE QUI S'AFFICHE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C8F7E"/>
                </a:solidFill>
                <a:latin typeface="Calibri"/>
              </a:rPr>
              <a:t>CE QUE ÇA VEUT DIRE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0116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C8F7E"/>
                </a:solidFill>
                <a:latin typeface="Calibri"/>
              </a:rPr>
              <a:t>CE QUE VOUS FAITES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50592"/>
            <a:ext cx="10789920" cy="676656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D9463E"/>
                </a:solidFill>
                <a:latin typeface="Calibri"/>
              </a:rPr>
              <a:t>Carte inconnue — non attribuée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6517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A2E"/>
                </a:solidFill>
                <a:latin typeface="Calibri"/>
              </a:rPr>
              <a:t>Cette carte n'est enregistrée sur aucun enfant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5176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A3B"/>
                </a:solidFill>
                <a:latin typeface="Calibri"/>
              </a:rPr>
              <a:t>Créez la fiche, ou attribuez la carte au bon enfant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00400"/>
            <a:ext cx="107899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01568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D9463E"/>
                </a:solidFill>
                <a:latin typeface="Calibri"/>
              </a:rPr>
              <a:t>Carte bloquée (perdue/désactivée)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0156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A2E"/>
                </a:solidFill>
                <a:latin typeface="Calibri"/>
              </a:rPr>
              <a:t>La carte a été déclarée perdue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40156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A3B"/>
                </a:solidFill>
                <a:latin typeface="Calibri"/>
              </a:rPr>
              <a:t>Le parent doit utiliser la nouvelle carte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50208"/>
            <a:ext cx="10789920" cy="676656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51376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D9463E"/>
                </a:solidFill>
                <a:latin typeface="Calibri"/>
              </a:rPr>
              <a:t>Abonnement expiré le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5137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A2E"/>
                </a:solidFill>
                <a:latin typeface="Calibri"/>
              </a:rPr>
              <a:t>La date de fin est dépassée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151376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A3B"/>
                </a:solidFill>
                <a:latin typeface="Calibri"/>
              </a:rPr>
              <a:t>Proposez un renouvellement, puis validez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00016"/>
            <a:ext cx="107899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01184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D9463E"/>
                </a:solidFill>
                <a:latin typeface="Calibri"/>
              </a:rPr>
              <a:t>Plus d'entrées disponibles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0118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A2E"/>
                </a:solidFill>
                <a:latin typeface="Calibri"/>
              </a:rPr>
              <a:t>Le forfait est entièrement consommé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901184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A3B"/>
                </a:solidFill>
                <a:latin typeface="Calibri"/>
              </a:rPr>
              <a:t>Proposez un nouvel abonnement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49824"/>
            <a:ext cx="10789920" cy="676656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65099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D9463E"/>
                </a:solidFill>
                <a:latin typeface="Calibri"/>
              </a:rPr>
              <a:t>Aucun abonnement actif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65099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D3A2E"/>
                </a:solidFill>
                <a:latin typeface="Calibri"/>
              </a:rPr>
              <a:t>L'enfant n'a pas d'abonnement en cours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650992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A7A3B"/>
                </a:solidFill>
                <a:latin typeface="Calibri"/>
              </a:rPr>
              <a:t>Vendez un abonnement depuis sa fiche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55664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2D3A2E"/>
                </a:solidFill>
                <a:latin typeface="Calibri"/>
              </a:rPr>
              <a:t>Ne laissez jamais entrer un enfant refusé sans en parler au responsable.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7B2FBE"/>
                </a:solidFill>
                <a:latin typeface="Calibri"/>
              </a:rPr>
              <a:t>La visite offerte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D3A2E"/>
                </a:solidFill>
                <a:latin typeface="Calibri"/>
              </a:rPr>
              <a:t>Le logiciel récompense les enfants fidèles, tout seul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7B2FBE"/>
                </a:solidFill>
                <a:latin typeface="Calibri"/>
              </a:rPr>
              <a:t>VISITE OFFERTE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4663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2D3A2E"/>
                </a:solidFill>
                <a:latin typeface="Calibri"/>
              </a:rPr>
              <a:t>Toutes les 10 visites payantes, la 11ᵉ est gratuite.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2D3A2E"/>
                </a:solidFill>
                <a:latin typeface="Calibri"/>
              </a:rPr>
              <a:t>Le logiciel compte tout seul et n'entame pas le forfait de l'enfant.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2514600"/>
            <a:ext cx="5029200" cy="3566160"/>
          </a:xfrm>
          <a:prstGeom prst="roundRect">
            <a:avLst>
              <a:gd name="adj" fmla="val 6000"/>
            </a:avLst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292608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5C518"/>
                </a:solidFill>
                <a:latin typeface="Calibri"/>
              </a:rPr>
              <a:t>VOTRE 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566160"/>
            <a:ext cx="4297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Annoncez-le au parent avec le sourire 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« Aujourd'hui c'est offert, c'est la 11ᵉ visite d'Aminata ! »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C'est un moment qui fidélise le client.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A3B"/>
                </a:solidFill>
                <a:latin typeface="Calibri"/>
              </a:rPr>
              <a:t>Inscrire un nouveau membre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Menu « Membres » → bouton « + Nouveau membre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2D3A2E"/>
                </a:solidFill>
                <a:latin typeface="Calibri"/>
              </a:rPr>
              <a:t>Nom de l'enfant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2768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C8F7E"/>
                </a:solidFill>
                <a:latin typeface="Calibri"/>
              </a:rPr>
              <a:t>Obligatoire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2D3A2E"/>
                </a:solidFill>
                <a:latin typeface="Calibri"/>
              </a:rPr>
              <a:t>Date de naissance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28269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B2FBE"/>
                </a:solidFill>
                <a:latin typeface="Calibri"/>
              </a:rPr>
              <a:t>Déclenche les propositions d'anniversaire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69080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2D3A2E"/>
                </a:solidFill>
                <a:latin typeface="Calibri"/>
              </a:rPr>
              <a:t>Nom du parent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28853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C8F7E"/>
                </a:solidFill>
                <a:latin typeface="Calibri"/>
              </a:rPr>
              <a:t>Pour l'appeler par son nom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074920"/>
            <a:ext cx="6583680" cy="804672"/>
          </a:xfrm>
          <a:prstGeom prst="roundRect">
            <a:avLst>
              <a:gd name="adj" fmla="val 6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5780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1">
                <a:solidFill>
                  <a:srgbClr val="2D3A2E"/>
                </a:solidFill>
                <a:latin typeface="Calibri"/>
              </a:rPr>
              <a:t>Téléphone du parent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529437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C8F7E"/>
                </a:solidFill>
                <a:latin typeface="Calibri"/>
              </a:rPr>
              <a:t>Indispensable pour les relances WhatsApp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057400"/>
            <a:ext cx="3840480" cy="39319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28575">
            <a:solidFill>
              <a:srgbClr val="F5C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3774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D3A2E"/>
                </a:solidFill>
                <a:latin typeface="Calibri"/>
              </a:rPr>
              <a:t>NE SAUTEZ PAS CES DEUX CHAMPS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971800"/>
            <a:ext cx="32004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2D3A2E"/>
                </a:solidFill>
                <a:latin typeface="Calibri"/>
              </a:rPr>
              <a:t>Le téléphone et la date de naissance ne sont pas des détails.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2D3A2E"/>
                </a:solidFill>
                <a:latin typeface="Calibri"/>
              </a:rPr>
              <a:t>C'est grâce à eux que le parc peut relancer un abonnement qui expire et proposer une fête d'anniversaire.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2D3A2E"/>
                </a:solidFill>
                <a:latin typeface="Calibri"/>
              </a:rPr>
              <a:t>Un client sans téléphone est un client perdu.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A3B"/>
                </a:solidFill>
                <a:latin typeface="Calibri"/>
              </a:rPr>
              <a:t>Attribuer une carte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Une carte neuve pour un nouvel enfant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103120"/>
            <a:ext cx="585216" cy="585216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30551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D3A2E"/>
                </a:solidFill>
                <a:latin typeface="Calibri"/>
              </a:rPr>
              <a:t>Ouvrez la fiche de l'enfant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57860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C8F7E"/>
                </a:solidFill>
                <a:latin typeface="Calibri"/>
              </a:rPr>
              <a:t>Menu Membres → bouton « Ouvrir »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54679"/>
            <a:ext cx="585216" cy="585216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182111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D3A2E"/>
                </a:solidFill>
                <a:latin typeface="Calibri"/>
              </a:rPr>
              <a:t>Cliquez sur « + Attribuer une carte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63016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C8F7E"/>
                </a:solidFill>
                <a:latin typeface="Calibri"/>
              </a:rPr>
              <a:t>En haut de la section Cartes RFID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206240"/>
            <a:ext cx="585216" cy="585216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23367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D3A2E"/>
                </a:solidFill>
                <a:latin typeface="Calibri"/>
              </a:rPr>
              <a:t>Posez la carte sur le lecteur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681727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C8F7E"/>
                </a:solidFill>
                <a:latin typeface="Calibri"/>
              </a:rPr>
              <a:t>Le numéro se remplit tout seul — ne tapez rien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257800"/>
            <a:ext cx="585216" cy="585216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285232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50" b="1">
                <a:solidFill>
                  <a:srgbClr val="2D3A2E"/>
                </a:solidFill>
                <a:latin typeface="Calibri"/>
              </a:rPr>
              <a:t>Cliquez sur « Attribuer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73328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C8F7E"/>
                </a:solidFill>
                <a:latin typeface="Calibri"/>
              </a:rPr>
              <a:t>C'est fait, la carte est active immédiatement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103120"/>
            <a:ext cx="3611880" cy="3108960"/>
          </a:xfrm>
          <a:prstGeom prst="roundRect">
            <a:avLst>
              <a:gd name="adj" fmla="val 6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42316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A7A3B"/>
                </a:solidFill>
                <a:latin typeface="Calibri"/>
              </a:rPr>
              <a:t>UNE CARTE = UN ENFANT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971800"/>
            <a:ext cx="2971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2D3A2E"/>
                </a:solidFill>
                <a:latin typeface="Calibri"/>
              </a:rPr>
              <a:t>Un enfant ne peut avoir qu'une seule carte active.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2D3A2E"/>
                </a:solidFill>
                <a:latin typeface="Calibri"/>
              </a:rPr>
              <a:t>Si le logiciel refuse, c'est qu'il en a déjà une : utilisez « Carte perdue » (page suivante).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A3B"/>
                </a:solidFill>
                <a:latin typeface="Calibri"/>
              </a:rPr>
              <a:t>Vendre un abonnement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Depuis la fiche de l'enfant → « Vendre un abonnement »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240280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28600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50" b="1">
                <a:solidFill>
                  <a:srgbClr val="2D3A2E"/>
                </a:solidFill>
                <a:latin typeface="Calibri"/>
              </a:rPr>
              <a:t>Choisissez la formule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7063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7C8F7E"/>
                </a:solidFill>
                <a:latin typeface="Calibri"/>
              </a:rPr>
              <a:t>4 entrées, 8 entrées ou VIP illimité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566160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61188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50" b="1">
                <a:solidFill>
                  <a:srgbClr val="2D3A2E"/>
                </a:solidFill>
                <a:latin typeface="Calibri"/>
              </a:rPr>
              <a:t>Choisissez le mode de paiement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40965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7C8F7E"/>
                </a:solidFill>
                <a:latin typeface="Calibri"/>
              </a:rPr>
              <a:t>Espèces, Orange Money, MTN MoMo ou carte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892040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93776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50" b="1">
                <a:solidFill>
                  <a:srgbClr val="2D3A2E"/>
                </a:solidFill>
                <a:latin typeface="Calibri"/>
              </a:rPr>
              <a:t>Cliquez sur « Encaisser 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422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7C8F7E"/>
                </a:solidFill>
                <a:latin typeface="Calibri"/>
              </a:rPr>
              <a:t>Le reçu s'imprime automatiquement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148840"/>
            <a:ext cx="3931920" cy="3840480"/>
          </a:xfrm>
          <a:prstGeom prst="roundRect">
            <a:avLst>
              <a:gd name="adj" fmla="val 6000"/>
            </a:avLst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4688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5C518"/>
                </a:solidFill>
                <a:latin typeface="Calibri"/>
              </a:rPr>
              <a:t>LE PRIX EST FIXÉ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6324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Vous ne pouvez pas modifier le montant : il vient du catalogue du parc.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C'est normal, et c'est une protection pour vous : personne ne pourra vous reprocher un prix mal appliqué.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Seul le responsable peut changer un tarif.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A3B"/>
                </a:solidFill>
                <a:latin typeface="Calibri"/>
              </a:rPr>
              <a:t>Carte perdue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La situation la plus fréquente — une seule manipulation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0789920" cy="123444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28575">
            <a:solidFill>
              <a:srgbClr val="D946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D9463E"/>
                </a:solidFill>
                <a:latin typeface="Calibri"/>
              </a:rPr>
              <a:t>Ne créez JAMAIS une deuxième fiche pour le même enfant.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Vous perdriez son abonnement, son historique et sa fidélité.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611880"/>
            <a:ext cx="566928" cy="566928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3075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D3A2E"/>
                </a:solidFill>
                <a:latin typeface="Calibri"/>
              </a:rPr>
              <a:t>Ouvrez la fiche de l'enfant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325112"/>
            <a:ext cx="566928" cy="566928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443984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D3A2E"/>
                </a:solidFill>
                <a:latin typeface="Calibri"/>
              </a:rPr>
              <a:t>Cliquez sur « Carte perdue — la remplacer »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5038344"/>
            <a:ext cx="566928" cy="566928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5157216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D3A2E"/>
                </a:solidFill>
                <a:latin typeface="Calibri"/>
              </a:rPr>
              <a:t>Posez la nouvelle carte sur le lecteur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751576"/>
            <a:ext cx="566928" cy="566928"/>
          </a:xfrm>
          <a:prstGeom prst="ellipse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87044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D3A2E"/>
                </a:solidFill>
                <a:latin typeface="Calibri"/>
              </a:rPr>
              <a:t>Validez : l'ancienne est désactivée toute seule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611880"/>
            <a:ext cx="3840480" cy="2423160"/>
          </a:xfrm>
          <a:prstGeom prst="roundRect">
            <a:avLst>
              <a:gd name="adj" fmla="val 6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3931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2A7A3B"/>
                </a:solidFill>
                <a:latin typeface="Calibri"/>
              </a:rPr>
              <a:t>SI LA CARTE EST RETROUVÉE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52628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2D3A2E"/>
                </a:solidFill>
                <a:latin typeface="Calibri"/>
              </a:rPr>
              <a:t>Reposez-la simplement sur la fiche de l'enfant : le logiciel la réactive automatiquement.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A3B"/>
                </a:solidFill>
                <a:latin typeface="Calibri"/>
              </a:rPr>
              <a:t>Qui a le droit de faire quoi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Chacun voit uniquement les menus qui le concernent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42900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9E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429000" cy="777240"/>
          </a:xfrm>
          <a:prstGeom prst="roundRect">
            <a:avLst>
              <a:gd name="adj" fmla="val 6000"/>
            </a:avLst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AGENT D'ACCUEIL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072384"/>
            <a:ext cx="201168" cy="201168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999232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Valider les entrées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584448"/>
            <a:ext cx="201168" cy="201168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3511296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Inscrire les membres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096511"/>
            <a:ext cx="201168" cy="201168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4023360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Attribuer et remplacer les cartes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608576"/>
            <a:ext cx="201168" cy="201168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4535424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Encaisser au prix du catalogue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5120640"/>
            <a:ext cx="201168" cy="201168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5047488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Imprimer le reçu de sa vente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5632704"/>
            <a:ext cx="201168" cy="201168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5559552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Envoyer les relances WhatsApp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057400"/>
            <a:ext cx="342900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9E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400" y="2057400"/>
            <a:ext cx="3429000" cy="777240"/>
          </a:xfrm>
          <a:prstGeom prst="roundRect">
            <a:avLst>
              <a:gd name="adj" fmla="val 6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22860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D3A2E"/>
                </a:solidFill>
                <a:latin typeface="Calibri"/>
              </a:rPr>
              <a:t>GÉRANT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3072384"/>
            <a:ext cx="201168" cy="20116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5192" y="2999232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Tout ce que fait l'agent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3584448"/>
            <a:ext cx="201168" cy="20116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5192" y="3511296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Voir les paiements du parc</a:t>
            </a:r>
          </a:p>
        </p:txBody>
      </p:sp>
      <p:sp>
        <p:nvSpPr>
          <p:cNvPr id="27" name="Oval 26"/>
          <p:cNvSpPr/>
          <p:nvPr/>
        </p:nvSpPr>
        <p:spPr>
          <a:xfrm>
            <a:off x="4617720" y="4096511"/>
            <a:ext cx="201168" cy="20116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5192" y="4023360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Voir les revenus et statistiques</a:t>
            </a:r>
          </a:p>
        </p:txBody>
      </p:sp>
      <p:sp>
        <p:nvSpPr>
          <p:cNvPr id="29" name="Oval 28"/>
          <p:cNvSpPr/>
          <p:nvPr/>
        </p:nvSpPr>
        <p:spPr>
          <a:xfrm>
            <a:off x="4617720" y="4608576"/>
            <a:ext cx="201168" cy="201168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5192" y="4535424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Consulter tout l'historique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2057400"/>
            <a:ext cx="3429000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D9E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01000" y="2057400"/>
            <a:ext cx="3429000" cy="777240"/>
          </a:xfrm>
          <a:prstGeom prst="roundRect">
            <a:avLst>
              <a:gd name="adj" fmla="val 6000"/>
            </a:avLst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2860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RESPONSABLE</a:t>
            </a:r>
          </a:p>
        </p:txBody>
      </p:sp>
      <p:sp>
        <p:nvSpPr>
          <p:cNvPr id="34" name="Oval 33"/>
          <p:cNvSpPr/>
          <p:nvPr/>
        </p:nvSpPr>
        <p:spPr>
          <a:xfrm>
            <a:off x="8275320" y="3072384"/>
            <a:ext cx="201168" cy="201168"/>
          </a:xfrm>
          <a:prstGeom prst="ellipse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2792" y="2999232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Tout ce que fait le gérant</a:t>
            </a:r>
          </a:p>
        </p:txBody>
      </p:sp>
      <p:sp>
        <p:nvSpPr>
          <p:cNvPr id="36" name="Oval 35"/>
          <p:cNvSpPr/>
          <p:nvPr/>
        </p:nvSpPr>
        <p:spPr>
          <a:xfrm>
            <a:off x="8275320" y="3584448"/>
            <a:ext cx="201168" cy="201168"/>
          </a:xfrm>
          <a:prstGeom prst="ellipse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22792" y="3511296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Modifier les tarifs</a:t>
            </a:r>
          </a:p>
        </p:txBody>
      </p:sp>
      <p:sp>
        <p:nvSpPr>
          <p:cNvPr id="38" name="Oval 37"/>
          <p:cNvSpPr/>
          <p:nvPr/>
        </p:nvSpPr>
        <p:spPr>
          <a:xfrm>
            <a:off x="8275320" y="4096511"/>
            <a:ext cx="201168" cy="201168"/>
          </a:xfrm>
          <a:prstGeom prst="ellipse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22792" y="4023360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Créer les comptes employés</a:t>
            </a:r>
          </a:p>
        </p:txBody>
      </p:sp>
      <p:sp>
        <p:nvSpPr>
          <p:cNvPr id="40" name="Oval 39"/>
          <p:cNvSpPr/>
          <p:nvPr/>
        </p:nvSpPr>
        <p:spPr>
          <a:xfrm>
            <a:off x="8275320" y="4608576"/>
            <a:ext cx="201168" cy="201168"/>
          </a:xfrm>
          <a:prstGeom prst="ellipse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22792" y="4535424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Annuler un abonnement</a:t>
            </a:r>
          </a:p>
        </p:txBody>
      </p:sp>
      <p:sp>
        <p:nvSpPr>
          <p:cNvPr id="42" name="Oval 41"/>
          <p:cNvSpPr/>
          <p:nvPr/>
        </p:nvSpPr>
        <p:spPr>
          <a:xfrm>
            <a:off x="8275320" y="5120640"/>
            <a:ext cx="201168" cy="201168"/>
          </a:xfrm>
          <a:prstGeom prst="ellipse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22792" y="5047488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Exports Excel et sauvegardes</a:t>
            </a:r>
          </a:p>
        </p:txBody>
      </p:sp>
      <p:sp>
        <p:nvSpPr>
          <p:cNvPr id="44" name="Oval 43"/>
          <p:cNvSpPr/>
          <p:nvPr/>
        </p:nvSpPr>
        <p:spPr>
          <a:xfrm>
            <a:off x="8275320" y="5632704"/>
            <a:ext cx="201168" cy="201168"/>
          </a:xfrm>
          <a:prstGeom prst="ellipse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22792" y="5559552"/>
            <a:ext cx="2624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D3A2E"/>
                </a:solidFill>
                <a:latin typeface="Calibri"/>
              </a:rPr>
              <a:t>Régler les paramètres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5C518"/>
                </a:solidFill>
                <a:latin typeface="Calibri"/>
              </a:rPr>
              <a:t>Les 5 règles d'or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810512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Chaque action porte votre 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24028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E8F7EA"/>
                </a:solidFill>
                <a:latin typeface="Calibri"/>
              </a:rPr>
              <a:t>entrées validées, encaissements, tout est tracé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770632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98064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Ne prêtez jamais votre compte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227832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E8F7EA"/>
                </a:solidFill>
                <a:latin typeface="Calibri"/>
              </a:rPr>
              <a:t>même à un collègue, même cinq minutes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758184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785616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Les prix ne se négocient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215384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E8F7EA"/>
                </a:solidFill>
                <a:latin typeface="Calibri"/>
              </a:rPr>
              <a:t>le montant vient du catalogue, il est bloqué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745736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773168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Une carte = un enfant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202936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E8F7EA"/>
                </a:solidFill>
                <a:latin typeface="Calibri"/>
              </a:rPr>
              <a:t>carte perdue : on remplace, on ne recrée pas la fiche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733288"/>
            <a:ext cx="640080" cy="640080"/>
          </a:xfrm>
          <a:prstGeom prst="ellipse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D3A2E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76072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Ne fermez pas la fenêtre noire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6190488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E8F7EA"/>
                </a:solidFill>
                <a:latin typeface="Calibri"/>
              </a:rPr>
              <a:t>c'est le moteur du logiciel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2A7A3B"/>
                </a:solidFill>
                <a:latin typeface="Calibri"/>
              </a:rPr>
              <a:t>En cas de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C8F7E"/>
                </a:solidFill>
                <a:latin typeface="Calibri"/>
              </a:rPr>
              <a:t>Trois pannes courantes, trois solutions simples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0789920" cy="1143000"/>
          </a:xfrm>
          <a:prstGeom prst="roundRect">
            <a:avLst>
              <a:gd name="adj" fmla="val 6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7685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7A3B"/>
                </a:solidFill>
                <a:latin typeface="Calibri"/>
              </a:rPr>
              <a:t>L'écran ne s'ouvre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258568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D3A2E"/>
                </a:solidFill>
                <a:latin typeface="Calibri"/>
              </a:rPr>
              <a:t>Vérifiez que la fenêtre « Didikids Parc - Serveur » est ouverte dans la barre des tâches. Sinon, double-cliquez sur l'icône du Bureau.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383280"/>
            <a:ext cx="10789920" cy="1143000"/>
          </a:xfrm>
          <a:prstGeom prst="roundRect">
            <a:avLst>
              <a:gd name="adj" fmla="val 6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0273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7A3B"/>
                </a:solidFill>
                <a:latin typeface="Calibri"/>
              </a:rPr>
              <a:t>Le lecteur ne réagit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584448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D3A2E"/>
                </a:solidFill>
                <a:latin typeface="Calibri"/>
              </a:rPr>
              <a:t>Débranchez puis rebranchez le lecteur USB, et relancez « Lecteur RFID ». En attendant, tapez le numéro de la carte à la main.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09160"/>
            <a:ext cx="10789920" cy="1143000"/>
          </a:xfrm>
          <a:prstGeom prst="roundRect">
            <a:avLst>
              <a:gd name="adj" fmla="val 6000"/>
            </a:avLst>
          </a:prstGeom>
          <a:solidFill>
            <a:srgbClr val="E8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92861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A7A3B"/>
                </a:solidFill>
                <a:latin typeface="Calibri"/>
              </a:rPr>
              <a:t>Un refus vous semble injuste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910328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D3A2E"/>
                </a:solidFill>
                <a:latin typeface="Calibri"/>
              </a:rPr>
              <a:t>Ne forcez pas l'entrée. Notez le nom de l'enfant et appelez le responsable : l'historique permettra de comprendre.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0644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6062472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D3A2E"/>
                </a:solidFill>
                <a:latin typeface="Calibri"/>
              </a:rPr>
              <a:t>En cas de doute, appelez le responsable. Aucune question n'est bête.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Des questions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3703320"/>
            <a:ext cx="5943600" cy="1417320"/>
          </a:xfrm>
          <a:prstGeom prst="roundRect">
            <a:avLst>
              <a:gd name="adj" fmla="val 6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0" y="4023360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2400" b="1">
                <a:solidFill>
                  <a:srgbClr val="2D3A2E"/>
                </a:solidFill>
                <a:latin typeface="Calibri"/>
              </a:rPr>
              <a:t>Posez la carte.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2400" b="1">
                <a:solidFill>
                  <a:srgbClr val="2D3A2E"/>
                </a:solidFill>
                <a:latin typeface="Calibri"/>
              </a:rPr>
              <a:t>Lisez la couleur.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5321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E8F7EA"/>
                </a:solidFill>
                <a:latin typeface="Calibri"/>
              </a:rPr>
              <a:t>Didikids Parc — parce que chaque enfant mérite de s'épanouir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