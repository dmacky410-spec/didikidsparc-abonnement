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Accueillir l'equipe. Rappeler que le logiciel remplace le cahier papier et qu'il protege tout le monde : chaque action est tracee.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le logiciel ne remplace pas l'accueil humain, il enleve le calcul mental et les 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discipline : un compte prete, et c'est votre nom qui apparait sur une erreur ou une caisse qui ne tombe pas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l'ecran en vrai pendant la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le geste a chaque employe pendant la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compteur 'avant visite offerte' n'apparait que si la fidelite est activee.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motif exact est toujours ecrit a l'ecran : il suffit de le lire au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seuil (10 visites) est reglable par le super administrateur.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code membre (M-0001) est attribue automatiquement.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numero imprime sur la carte est facultatif mais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recu porte le nom de l'employe qui encaisse.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L'ancienne carte est bloquee : si quelqu'un la retrouve et la presente, elle est refusee.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un menu n'apparait pas chez vous, ce n'est pas une panne : c'est votre niveau d'acces.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afficher au comptoir si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numero du responsable affiche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Remercier l'equipe et faire pratiquer sur le vrai lecteur.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Didikids </a:t>
            </a:r>
            <a:r>
              <a:rPr sz="6000" b="1">
                <a:solidFill>
                  <a:srgbClr val="F5C518"/>
                </a:solidFill>
                <a:latin typeface="Calibri"/>
              </a:rPr>
              <a:t>Parc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8F7EA"/>
                </a:solidFill>
                <a:latin typeface="Calibri"/>
              </a:rPr>
              <a:t>LOGICIEL DE GESTION DES ABONNEMENTS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Guide d'utilisation — équipe d'accueil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257800"/>
            <a:ext cx="4389120" cy="640080"/>
          </a:xfrm>
          <a:prstGeom prst="roundRect">
            <a:avLst>
              <a:gd name="adj" fmla="val 6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544982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D3A2E"/>
                </a:solidFill>
                <a:latin typeface="Calibri"/>
              </a:rPr>
              <a:t>Formation interne · Version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À quoi sert ce logiciel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Trois choses simples, que vous ferez tous les jours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514600"/>
            <a:ext cx="777240" cy="777240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611880"/>
            <a:ext cx="2788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A3B"/>
                </a:solidFill>
                <a:latin typeface="Calibri"/>
              </a:rPr>
              <a:t>Les cartes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206240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Chaque enfant a sa carte. Vous la posez sur le lecteur : le logiciel reconnaît l'enfant en moins d'une seconde.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5740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09160" y="2514600"/>
            <a:ext cx="777240" cy="77724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611880"/>
            <a:ext cx="2788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A3B"/>
                </a:solidFill>
                <a:latin typeface="Calibri"/>
              </a:rPr>
              <a:t>Les abonnements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4206240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4 entrées, 8 entrées, VIP illimité. Le logiciel décompte les entrées tout seul et refuse quand le forfait est fini.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05740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F3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66760" y="2514600"/>
            <a:ext cx="777240" cy="777240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611880"/>
            <a:ext cx="2788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A3B"/>
                </a:solidFill>
                <a:latin typeface="Calibri"/>
              </a:rPr>
              <a:t>L'historique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206240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Chaque passage est enregistré : l'enfant, la date, l'heure et le nom de l'employé qui a validé.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Se connecter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Chaque employé a son propre compte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03120"/>
            <a:ext cx="621792" cy="621792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488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D3A2E"/>
                </a:solidFill>
                <a:latin typeface="Calibri"/>
              </a:rPr>
              <a:t>Ouvrez le logiciel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633472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Double-cliquez sur l'icône « Didikids Parc » du Bureau. Une fenêtre noire s'ouvre : ne la fermez jamais.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474720"/>
            <a:ext cx="621792" cy="621792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5204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D3A2E"/>
                </a:solidFill>
                <a:latin typeface="Calibri"/>
              </a:rPr>
              <a:t>Saisissez vos identifiants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005072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Votre nom d'utilisateur et votre mot de passe, remis par le responsable.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846320"/>
            <a:ext cx="621792" cy="621792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48920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D3A2E"/>
                </a:solidFill>
                <a:latin typeface="Calibri"/>
              </a:rPr>
              <a:t>L'écran d'accueil s'ouvre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5376672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Vous êtes prêt à recevoir les enfants.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2103120"/>
            <a:ext cx="4114800" cy="3566160"/>
          </a:xfrm>
          <a:prstGeom prst="roundRect">
            <a:avLst>
              <a:gd name="adj" fmla="val 6000"/>
            </a:avLst>
          </a:prstGeom>
          <a:solidFill>
            <a:srgbClr val="FFF8E1"/>
          </a:solidFill>
          <a:ln w="28575">
            <a:solidFill>
              <a:srgbClr val="F5C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3A2E"/>
                </a:solidFill>
                <a:latin typeface="Calibri"/>
              </a:rPr>
              <a:t>RÈGLE IMPORTANTE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017520"/>
            <a:ext cx="33832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Votre compte est personnel.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Ne le prêtez à personne, même à un collègue.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Chaque entrée validée et chaque encaissement portent votre nom dans l'historique. C'est votre protection.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L'écran d'accueil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C'est l'écran sur lequel vous passerez la journée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6400800" cy="402336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23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7A3B"/>
                </a:solidFill>
                <a:latin typeface="Calibri"/>
              </a:rPr>
              <a:t>À GAUCHE — Zone de lecture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26080"/>
            <a:ext cx="56692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500" b="1">
                <a:solidFill>
                  <a:srgbClr val="2D3A2E"/>
                </a:solidFill>
                <a:latin typeface="Calibri"/>
              </a:rPr>
              <a:t>« Présentez la carte 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Le curseur reste automatiquement dans le champ de saisie. Vous n'avez rien à cliquer : posez simplement la carte sur le lecteur.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Sous cette zone s'affiche le résultat, en vert ou en rouge.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2057400"/>
            <a:ext cx="402336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4231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7A3B"/>
                </a:solidFill>
                <a:latin typeface="Calibri"/>
              </a:rPr>
              <a:t>À DROITE — Passages du jour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926080"/>
            <a:ext cx="32918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La liste de tous les enfants entrés aujourd'hui, avec l'heure.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Un coup d'œil suffit pour savoir combien d'enfants sont dans le parc.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Valider une entrée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Le geste que vous répéterez cent fois par jour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0312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423160"/>
            <a:ext cx="640080" cy="640080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542032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L'enfant pose sa carte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3756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sur le lecteur posé au comptoir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0312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3440" y="2423160"/>
            <a:ext cx="640080" cy="640080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542032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Le logiciel répond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33756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en moins d'une seconde, avec un 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10312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1040" y="2423160"/>
            <a:ext cx="640080" cy="640080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542032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Vous lisez la couleur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33756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vert = il entre · rouge = il n'entre pas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754880"/>
            <a:ext cx="10789920" cy="1508760"/>
          </a:xfrm>
          <a:prstGeom prst="roundRect">
            <a:avLst>
              <a:gd name="adj" fmla="val 6000"/>
            </a:avLst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02920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C518"/>
                </a:solidFill>
                <a:latin typeface="Calibri"/>
              </a:rPr>
              <a:t>Vous n'avez rien à taper. Rien à cliquer.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6128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Si le lecteur ne réagit pas, vous pouvez taper le numéro de la carte à la main dans le champ, puis appuyer sur Entrée.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L'écran vert : entrée autorisée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Quatre informations à lire avant de laisser passer l'enfant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5120640" cy="402336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 w="28575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2A7A3B"/>
                </a:solidFill>
                <a:latin typeface="Calibri"/>
              </a:rPr>
              <a:t>ENTRÉE AUTORISÉE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06324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>
                <a:solidFill>
                  <a:srgbClr val="2D3A2E"/>
                </a:solidFill>
                <a:latin typeface="Calibri"/>
              </a:rPr>
              <a:t>Aminata 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4787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7C8F7E"/>
                </a:solidFill>
                <a:latin typeface="Calibri"/>
              </a:rPr>
              <a:t>M-0001 · Mensuel 4 entrées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114800"/>
            <a:ext cx="141732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31596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>
                <a:solidFill>
                  <a:srgbClr val="2A7A3B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892040"/>
            <a:ext cx="1234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ENTRÉES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RESTANTES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39" y="4114800"/>
            <a:ext cx="141732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79" y="431596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>
                <a:solidFill>
                  <a:srgbClr val="2A7A3B"/>
                </a:solidFill>
                <a:latin typeface="Calibri"/>
              </a:rPr>
              <a:t>23/08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79" y="4892040"/>
            <a:ext cx="1234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EXPIRE 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4114800"/>
            <a:ext cx="141732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431596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>
                <a:solidFill>
                  <a:srgbClr val="2A7A3B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59" y="4892040"/>
            <a:ext cx="1234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AVANT VISITE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OFFERTE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2103120"/>
            <a:ext cx="347472" cy="347472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084831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Le nom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79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Vérifiez que c'est bien l'enfant devant vous.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0" y="3063239"/>
            <a:ext cx="347472" cy="347472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044951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L'abonnement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28999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Le type de forfait dont il dispose.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4023359"/>
            <a:ext cx="347472" cy="347472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00507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Les entrées restantes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3891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S'il en reste 1, prévenez le parent gentiment.</a:t>
            </a:r>
          </a:p>
        </p:txBody>
      </p:sp>
      <p:sp>
        <p:nvSpPr>
          <p:cNvPr id="27" name="Oval 26"/>
          <p:cNvSpPr/>
          <p:nvPr/>
        </p:nvSpPr>
        <p:spPr>
          <a:xfrm>
            <a:off x="6217920" y="4983479"/>
            <a:ext cx="347472" cy="347472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496519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La date d'expiration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534924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Proposez le renouvellement si la date approche.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5486400"/>
            <a:ext cx="5257800" cy="658368"/>
          </a:xfrm>
          <a:prstGeom prst="roundRect">
            <a:avLst>
              <a:gd name="adj" fmla="val 6000"/>
            </a:avLst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568756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2D3A2E"/>
                </a:solidFill>
                <a:latin typeface="Calibri"/>
              </a:rPr>
              <a:t>« Déjà passé 2 fois aujourd'hui » = vérifiez qu'il ne s'agit pas d'une erreur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L'écran rouge : entrée refusée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Le logiciel affiche toujours le motif — voici quoi faire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C8F7E"/>
                </a:solidFill>
                <a:latin typeface="Calibri"/>
              </a:rPr>
              <a:t>CE QUI S'AFFICHE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011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C8F7E"/>
                </a:solidFill>
                <a:latin typeface="Calibri"/>
              </a:rPr>
              <a:t>CE QUE ÇA VEUT DIRE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C8F7E"/>
                </a:solidFill>
                <a:latin typeface="Calibri"/>
              </a:rPr>
              <a:t>CE QUE VOUS FAITES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50592"/>
            <a:ext cx="10789920" cy="676656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Carte inconnue — non attribuée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6517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Cette carte n'est enregistrée sur aucun enfant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6517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Créez la fiche, ou attribuez la carte au bon enfant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200400"/>
            <a:ext cx="107899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01568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Carte bloquée (perdue/désactivée)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40156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La carte a été déclarée perdue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4015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Le parent doit utiliser la nouvelle carte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50208"/>
            <a:ext cx="10789920" cy="676656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151376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Abonnement expiré le 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15137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La date de fin est dépassée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151376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Proposez un renouvellement, puis validez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700016"/>
            <a:ext cx="107899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01184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Plus d'entrées disponibles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90118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Le forfait est entièrement consommé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90118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Proposez un nouvel abonnement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49824"/>
            <a:ext cx="10789920" cy="676656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5099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Aucun abonnement actif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650992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L'enfant n'a pas d'abonnement en cours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650992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Vendez un abonnement depuis sa fiche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556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Ne laissez jamais entrer un enfant refusé sans en parler au responsable.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315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7B2FBE"/>
                </a:solidFill>
                <a:latin typeface="Calibri"/>
              </a:rPr>
              <a:t>La visite offerte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D3A2E"/>
                </a:solidFill>
                <a:latin typeface="Calibri"/>
              </a:rPr>
              <a:t>Le logiciel récompense les enfants fidèles, tout seul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146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97180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7B2FBE"/>
                </a:solidFill>
                <a:latin typeface="Calibri"/>
              </a:rPr>
              <a:t>VISITE OFFERTE 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794760"/>
            <a:ext cx="4663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2D3A2E"/>
                </a:solidFill>
                <a:latin typeface="Calibri"/>
              </a:rPr>
              <a:t>Toutes les 10 visites payantes, la 11ᵉ est gratuite.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2D3A2E"/>
                </a:solidFill>
                <a:latin typeface="Calibri"/>
              </a:rPr>
              <a:t>Le logiciel compte tout seul et n'entame pas le forfait de l'enfant.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514600"/>
            <a:ext cx="5029200" cy="3566160"/>
          </a:xfrm>
          <a:prstGeom prst="roundRect">
            <a:avLst>
              <a:gd name="adj" fmla="val 6000"/>
            </a:avLst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29260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5C518"/>
                </a:solidFill>
                <a:latin typeface="Calibri"/>
              </a:rPr>
              <a:t>VOTRE RÔLE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3566160"/>
            <a:ext cx="42976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Annoncez-le au parent avec le sourire 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« Aujourd'hui c'est offert, c'est la 11ᵉ visite d'Aminata ! 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C'est un moment qui fidélise le client.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Inscrire un nouveau membre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Menu « Membres » → bouton « + Nouveau membre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6583680" cy="804672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Nom de l'enfant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27685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C8F7E"/>
                </a:solidFill>
                <a:latin typeface="Calibri"/>
              </a:rPr>
              <a:t>Obligatoire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63240"/>
            <a:ext cx="6583680" cy="804672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24612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Date de naissance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2826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B2FBE"/>
                </a:solidFill>
                <a:latin typeface="Calibri"/>
              </a:rPr>
              <a:t>Déclenche les propositions d'anniversaire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069080"/>
            <a:ext cx="6583680" cy="804672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25196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Nom du parent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28853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C8F7E"/>
                </a:solidFill>
                <a:latin typeface="Calibri"/>
              </a:rPr>
              <a:t>Pour l'appeler par son nom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074920"/>
            <a:ext cx="6583680" cy="804672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5780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Téléphone du parent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529437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C8F7E"/>
                </a:solidFill>
                <a:latin typeface="Calibri"/>
              </a:rPr>
              <a:t>Indispensable pour les relances WhatsApp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2057400"/>
            <a:ext cx="3840480" cy="3931920"/>
          </a:xfrm>
          <a:prstGeom prst="roundRect">
            <a:avLst>
              <a:gd name="adj" fmla="val 6000"/>
            </a:avLst>
          </a:prstGeom>
          <a:solidFill>
            <a:srgbClr val="FFF8E1"/>
          </a:solidFill>
          <a:ln w="28575">
            <a:solidFill>
              <a:srgbClr val="F5C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23774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D3A2E"/>
                </a:solidFill>
                <a:latin typeface="Calibri"/>
              </a:rPr>
              <a:t>NE SAUTEZ PAS CES DEUX CHAMPS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971800"/>
            <a:ext cx="320040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Le téléphone et la date de naissance ne sont pas des détails.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C'est grâce à eux que le parc peut relancer un abonnement qui expire et proposer une fête d'anniversaire.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Un client sans téléphone est un client perdu.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Attribuer une carte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Une carte neuve pour un nouvel enfant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03120"/>
            <a:ext cx="585216" cy="585216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130551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50" b="1">
                <a:solidFill>
                  <a:srgbClr val="2D3A2E"/>
                </a:solidFill>
                <a:latin typeface="Calibri"/>
              </a:rPr>
              <a:t>Ouvrez la fiche de l'enfant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7860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C8F7E"/>
                </a:solidFill>
                <a:latin typeface="Calibri"/>
              </a:rPr>
              <a:t>Menu Membres → bouton « Ouvrir »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154679"/>
            <a:ext cx="585216" cy="585216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182111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50" b="1">
                <a:solidFill>
                  <a:srgbClr val="2D3A2E"/>
                </a:solidFill>
                <a:latin typeface="Calibri"/>
              </a:rPr>
              <a:t>Cliquez sur « + Attribuer une carte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63016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C8F7E"/>
                </a:solidFill>
                <a:latin typeface="Calibri"/>
              </a:rPr>
              <a:t>En haut de la section Cartes RFID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206240"/>
            <a:ext cx="585216" cy="585216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233672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50" b="1">
                <a:solidFill>
                  <a:srgbClr val="2D3A2E"/>
                </a:solidFill>
                <a:latin typeface="Calibri"/>
              </a:rPr>
              <a:t>Posez la carte sur le lecteur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681727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C8F7E"/>
                </a:solidFill>
                <a:latin typeface="Calibri"/>
              </a:rPr>
              <a:t>Le numéro se remplit tout seul — ne tapez rien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5257800"/>
            <a:ext cx="585216" cy="585216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5285232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50" b="1">
                <a:solidFill>
                  <a:srgbClr val="2D3A2E"/>
                </a:solidFill>
                <a:latin typeface="Calibri"/>
              </a:rPr>
              <a:t>Cliquez sur « Attribuer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73328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C8F7E"/>
                </a:solidFill>
                <a:latin typeface="Calibri"/>
              </a:rPr>
              <a:t>C'est fait, la carte est active immédiatement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103120"/>
            <a:ext cx="3611880" cy="310896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2423160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7A3B"/>
                </a:solidFill>
                <a:latin typeface="Calibri"/>
              </a:rPr>
              <a:t>UNE CARTE = UN ENFANT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971800"/>
            <a:ext cx="2971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Un enfant ne peut avoir qu'une seule carte active.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Si le logiciel refuse, c'est qu'il en a déjà une : utilisez « Carte perdue » (page suivante).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Vendre un abonnement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Depuis la fiche de l'enfant → « Vendre un abonnement »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240280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28600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50" b="1">
                <a:solidFill>
                  <a:srgbClr val="2D3A2E"/>
                </a:solidFill>
                <a:latin typeface="Calibri"/>
              </a:rPr>
              <a:t>Choisissez la formule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77063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4 entrées, 8 entrées ou VIP illimité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566160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61188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50" b="1">
                <a:solidFill>
                  <a:srgbClr val="2D3A2E"/>
                </a:solidFill>
                <a:latin typeface="Calibri"/>
              </a:rPr>
              <a:t>Choisissez le mode de paiement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Espèces, Orange Money, MTN MoMo ou carte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892040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93776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50" b="1">
                <a:solidFill>
                  <a:srgbClr val="2D3A2E"/>
                </a:solidFill>
                <a:latin typeface="Calibri"/>
              </a:rPr>
              <a:t>Cliquez sur « Encaisser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5422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Le reçu s'imprime automatiquement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2148840"/>
            <a:ext cx="3931920" cy="3840480"/>
          </a:xfrm>
          <a:prstGeom prst="roundRect">
            <a:avLst>
              <a:gd name="adj" fmla="val 6000"/>
            </a:avLst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24688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5C518"/>
                </a:solidFill>
                <a:latin typeface="Calibri"/>
              </a:rPr>
              <a:t>LE PRIX EST FIXÉ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063240"/>
            <a:ext cx="3291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Vous ne pouvez pas modifier le montant : il vient du catalogue du parc.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C'est normal, et c'est une protection pour vous : personne ne pourra vous reprocher un prix mal appliqué.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Seul le responsable peut changer un tarif.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Carte perdue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La situation la plus fréquente — une seule manipulation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 w="28575">
            <a:solidFill>
              <a:srgbClr val="D94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331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D9463E"/>
                </a:solidFill>
                <a:latin typeface="Calibri"/>
              </a:rPr>
              <a:t>Ne créez JAMAIS une deuxième fiche pour le même enfant.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Vous perdriez son abonnement, son historique et sa fidélité.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611880"/>
            <a:ext cx="566928" cy="566928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73075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Ouvrez la fiche de l'enfant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4325112"/>
            <a:ext cx="566928" cy="566928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443984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Cliquez sur « Carte perdue — la remplacer »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5038344"/>
            <a:ext cx="566928" cy="566928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5157216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Posez la nouvelle carte sur le lecteur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5751576"/>
            <a:ext cx="566928" cy="566928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5870448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Validez : l'ancienne est désactivée toute seule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3611880"/>
            <a:ext cx="3840480" cy="242316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39319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2A7A3B"/>
                </a:solidFill>
                <a:latin typeface="Calibri"/>
              </a:rPr>
              <a:t>SI LA CARTE EST RETROUVÉE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52628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Reposez-la simplement sur la fiche de l'enfant : le logiciel la réactive automatiquement.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Qui a le droit de faire quoi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Chacun voit uniquement les menus qui le concernent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342900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3429000" cy="777240"/>
          </a:xfrm>
          <a:prstGeom prst="roundRect">
            <a:avLst>
              <a:gd name="adj" fmla="val 6000"/>
            </a:avLst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AGENT D'ACCUEIL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3191256"/>
            <a:ext cx="219456" cy="219456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136392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Valider les entrées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721608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Inscrire les membres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4361688"/>
            <a:ext cx="219456" cy="219456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306824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Attribuer et remplacer les cartes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4946903"/>
            <a:ext cx="219456" cy="219456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89204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Vendre au prix du catalogue</a:t>
            </a:r>
          </a:p>
        </p:txBody>
      </p:sp>
      <p:sp>
        <p:nvSpPr>
          <p:cNvPr id="16" name="Oval 15"/>
          <p:cNvSpPr/>
          <p:nvPr/>
        </p:nvSpPr>
        <p:spPr>
          <a:xfrm>
            <a:off x="960120" y="5532119"/>
            <a:ext cx="219456" cy="219456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477255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Voir les passages du jour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057400"/>
            <a:ext cx="342900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43400" y="2057400"/>
            <a:ext cx="3429000" cy="777240"/>
          </a:xfrm>
          <a:prstGeom prst="roundRect">
            <a:avLst>
              <a:gd name="adj" fmla="val 6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228600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D3A2E"/>
                </a:solidFill>
                <a:latin typeface="Calibri"/>
              </a:rPr>
              <a:t>GÉRANT</a:t>
            </a:r>
          </a:p>
        </p:txBody>
      </p:sp>
      <p:sp>
        <p:nvSpPr>
          <p:cNvPr id="21" name="Oval 20"/>
          <p:cNvSpPr/>
          <p:nvPr/>
        </p:nvSpPr>
        <p:spPr>
          <a:xfrm>
            <a:off x="4617720" y="3191256"/>
            <a:ext cx="219456" cy="219456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3136392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Tout ce que fait l'agent</a:t>
            </a:r>
          </a:p>
        </p:txBody>
      </p:sp>
      <p:sp>
        <p:nvSpPr>
          <p:cNvPr id="23" name="Oval 22"/>
          <p:cNvSpPr/>
          <p:nvPr/>
        </p:nvSpPr>
        <p:spPr>
          <a:xfrm>
            <a:off x="4617720" y="3776472"/>
            <a:ext cx="219456" cy="219456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3721608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Voir les paiements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617720" y="4361688"/>
            <a:ext cx="219456" cy="219456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306824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Voir le tableau de bord</a:t>
            </a:r>
          </a:p>
        </p:txBody>
      </p:sp>
      <p:sp>
        <p:nvSpPr>
          <p:cNvPr id="27" name="Oval 26"/>
          <p:cNvSpPr/>
          <p:nvPr/>
        </p:nvSpPr>
        <p:spPr>
          <a:xfrm>
            <a:off x="4617720" y="4946903"/>
            <a:ext cx="219456" cy="219456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489204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Envoyer les relances WhatsApp</a:t>
            </a:r>
          </a:p>
        </p:txBody>
      </p:sp>
      <p:sp>
        <p:nvSpPr>
          <p:cNvPr id="29" name="Oval 28"/>
          <p:cNvSpPr/>
          <p:nvPr/>
        </p:nvSpPr>
        <p:spPr>
          <a:xfrm>
            <a:off x="4617720" y="5532119"/>
            <a:ext cx="219456" cy="219456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5477255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Consulter tout l'historique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2057400"/>
            <a:ext cx="342900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D9EC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01000" y="2057400"/>
            <a:ext cx="3429000" cy="777240"/>
          </a:xfrm>
          <a:prstGeom prst="roundRect">
            <a:avLst>
              <a:gd name="adj" fmla="val 6000"/>
            </a:avLst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79" y="228600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RESPONSABLE</a:t>
            </a:r>
          </a:p>
        </p:txBody>
      </p:sp>
      <p:sp>
        <p:nvSpPr>
          <p:cNvPr id="34" name="Oval 33"/>
          <p:cNvSpPr/>
          <p:nvPr/>
        </p:nvSpPr>
        <p:spPr>
          <a:xfrm>
            <a:off x="8275320" y="3191256"/>
            <a:ext cx="219456" cy="219456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136392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Tout ce que fait le gérant</a:t>
            </a:r>
          </a:p>
        </p:txBody>
      </p:sp>
      <p:sp>
        <p:nvSpPr>
          <p:cNvPr id="36" name="Oval 35"/>
          <p:cNvSpPr/>
          <p:nvPr/>
        </p:nvSpPr>
        <p:spPr>
          <a:xfrm>
            <a:off x="8275320" y="3776472"/>
            <a:ext cx="219456" cy="219456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3721608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Modifier les tarifs</a:t>
            </a:r>
          </a:p>
        </p:txBody>
      </p:sp>
      <p:sp>
        <p:nvSpPr>
          <p:cNvPr id="38" name="Oval 37"/>
          <p:cNvSpPr/>
          <p:nvPr/>
        </p:nvSpPr>
        <p:spPr>
          <a:xfrm>
            <a:off x="8275320" y="4361688"/>
            <a:ext cx="219456" cy="219456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41080" y="4306824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Créer les comptes employés</a:t>
            </a:r>
          </a:p>
        </p:txBody>
      </p:sp>
      <p:sp>
        <p:nvSpPr>
          <p:cNvPr id="40" name="Oval 39"/>
          <p:cNvSpPr/>
          <p:nvPr/>
        </p:nvSpPr>
        <p:spPr>
          <a:xfrm>
            <a:off x="8275320" y="4946903"/>
            <a:ext cx="219456" cy="219456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1080" y="4892040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Annuler un abonnement</a:t>
            </a:r>
          </a:p>
        </p:txBody>
      </p:sp>
      <p:sp>
        <p:nvSpPr>
          <p:cNvPr id="42" name="Oval 41"/>
          <p:cNvSpPr/>
          <p:nvPr/>
        </p:nvSpPr>
        <p:spPr>
          <a:xfrm>
            <a:off x="8275320" y="5532119"/>
            <a:ext cx="219456" cy="219456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5477255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Régler les paramètres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C518"/>
                </a:solidFill>
                <a:latin typeface="Calibri"/>
              </a:rPr>
              <a:t>Les 5 règles d'or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783080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810512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Chaque action porte votre nom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240280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entrées validées, encaissements, tout est tracé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770632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798064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Ne prêtez jamais votre compte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227832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même à un collègue, même cinq minutes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758184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785616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Les prix ne se négocient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4215384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le montant vient du catalogue, il est bloqué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745736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773168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Une carte = un enfant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5202936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carte perdue : on remplace, on ne recrée pas la fiche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5733288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760720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Ne fermez pas la fenêtre noire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6190488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c'est le moteur du logiciel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2A7A3B"/>
                </a:solidFill>
                <a:latin typeface="Calibri"/>
              </a:rPr>
              <a:t>En cas de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Trois pannes courantes, trois solutions simples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10789920" cy="114300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7685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L'écran ne s'ouvre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258568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Vérifiez que la fenêtre « Didikids Parc - Serveur » est ouverte dans la barre des tâches. Sinon, double-cliquez sur l'icône du Bureau.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383280"/>
            <a:ext cx="10789920" cy="114300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60273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Le lecteur ne réagit 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Débranchez puis rebranchez le lecteur USB, et relancez « Lecteur RFID ». En attendant, tapez le numéro de la carte à la main.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709160"/>
            <a:ext cx="10789920" cy="1143000"/>
          </a:xfrm>
          <a:prstGeom prst="roundRect">
            <a:avLst>
              <a:gd name="adj" fmla="val 6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92861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Un refus vous semble injuste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910328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Ne forcez pas l'entrée. Notez le nom de l'enfant et appelez le responsable : l'historique permettra de comprendre.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806440"/>
            <a:ext cx="10789920" cy="777240"/>
          </a:xfrm>
          <a:prstGeom prst="roundRect">
            <a:avLst>
              <a:gd name="adj" fmla="val 6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6062472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En cas de doute, appelez le responsable. Aucune question n'est bête.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789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Des questions 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0" y="3703320"/>
            <a:ext cx="5943600" cy="1417320"/>
          </a:xfrm>
          <a:prstGeom prst="roundRect">
            <a:avLst>
              <a:gd name="adj" fmla="val 6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4023360"/>
            <a:ext cx="5394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2400" b="1">
                <a:solidFill>
                  <a:srgbClr val="2D3A2E"/>
                </a:solidFill>
                <a:latin typeface="Calibri"/>
              </a:rPr>
              <a:t>Posez la carte.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2400" b="1">
                <a:solidFill>
                  <a:srgbClr val="2D3A2E"/>
                </a:solidFill>
                <a:latin typeface="Calibri"/>
              </a:rPr>
              <a:t>Lisez la couleur.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5321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8F7EA"/>
                </a:solidFill>
                <a:latin typeface="Calibri"/>
              </a:rPr>
              <a:t>Didikids Parc — parce que chaque enfant mérite de s'épanouir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